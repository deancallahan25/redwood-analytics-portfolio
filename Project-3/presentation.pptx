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373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47800" y="1193800"/>
            <a:ext cx="62484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153.474421</a:t>
                      </a:r>
                    </a:p>
                  </a:txBody>
                </a:tc>
                <a:tc>
                  <a:txBody>
                    <a:bodyPr/>
                    <a:lstStyle/>
                    <a:p>
                      <a:pPr lvl="0" indent="0" marL="0">
                        <a:buNone/>
                      </a:pPr>
                      <a:r>
                        <a:rPr/>
                        <a:t>42.215118</a:t>
                      </a:r>
                    </a:p>
                  </a:txBody>
                </a:tc>
                <a:tc>
                  <a:txBody>
                    <a:bodyPr/>
                    <a:lstStyle/>
                    <a:p>
                      <a:pPr lvl="0" indent="0" marL="0">
                        <a:buNone/>
                      </a:pPr>
                      <a:r>
                        <a:rPr/>
                        <a:t>0.149516</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156.768710</a:t>
                      </a:r>
                    </a:p>
                  </a:txBody>
                </a:tc>
                <a:tc>
                  <a:txBody>
                    <a:bodyPr/>
                    <a:lstStyle/>
                    <a:p>
                      <a:pPr lvl="0" indent="0" marL="0">
                        <a:buNone/>
                      </a:pPr>
                      <a:r>
                        <a:rPr/>
                        <a:t>43.559217</a:t>
                      </a:r>
                    </a:p>
                  </a:txBody>
                </a:tc>
                <a:tc>
                  <a:txBody>
                    <a:bodyPr/>
                    <a:lstStyle/>
                    <a:p>
                      <a:pPr lvl="0" indent="0" marL="0">
                        <a:buNone/>
                      </a:pPr>
                      <a:r>
                        <a:rPr/>
                        <a:t>0.154670</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161.016214</a:t>
                      </a:r>
                    </a:p>
                  </a:txBody>
                </a:tc>
                <a:tc>
                  <a:txBody>
                    <a:bodyPr/>
                    <a:lstStyle/>
                    <a:p>
                      <a:pPr lvl="0" indent="0" marL="0">
                        <a:buNone/>
                      </a:pPr>
                      <a:r>
                        <a:rPr/>
                        <a:t>44.751469</a:t>
                      </a:r>
                    </a:p>
                  </a:txBody>
                </a:tc>
                <a:tc>
                  <a:txBody>
                    <a:bodyPr/>
                    <a:lstStyle/>
                    <a:p>
                      <a:pPr lvl="0" indent="0" marL="0">
                        <a:buNone/>
                      </a:pPr>
                      <a:r>
                        <a:rPr/>
                        <a:t>0.160504</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0.152781
1   3   0.158063
2   4   0.162117
3   5   0.168000
4   6   0.174246
5   7   0.180280
6   8   0.185069
7   9   0.190148
8  10   0.196827</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453</a:t>
                      </a:r>
                    </a:p>
                  </a:txBody>
                </a:tc>
                <a:tc>
                  <a:txBody>
                    <a:bodyPr/>
                    <a:lstStyle/>
                    <a:p>
                      <a:pPr lvl="0" indent="0" marL="0">
                        <a:buNone/>
                      </a:pPr>
                      <a:r>
                        <a:rPr/>
                        <a:t>995</a:t>
                      </a:r>
                    </a:p>
                  </a:txBody>
                </a:tc>
                <a:tc>
                  <a:txBody>
                    <a:bodyPr/>
                    <a:lstStyle/>
                    <a:p>
                      <a:pPr lvl="0" indent="0" marL="0">
                        <a:buNone/>
                      </a:pPr>
                      <a:r>
                        <a:rPr/>
                        <a:t>tungoil tree</a:t>
                      </a:r>
                    </a:p>
                  </a:txBody>
                </a:tc>
              </a:tr>
              <a:tr h="0">
                <a:tc>
                  <a:txBody>
                    <a:bodyPr/>
                    <a:lstStyle/>
                    <a:p>
                      <a:pPr lvl="0" indent="0" marL="0">
                        <a:buNone/>
                      </a:pPr>
                      <a:r>
                        <a:rPr/>
                        <a:t>454</a:t>
                      </a:r>
                    </a:p>
                  </a:txBody>
                </a:tc>
                <a:tc>
                  <a:txBody>
                    <a:bodyPr/>
                    <a:lstStyle/>
                    <a:p>
                      <a:pPr lvl="0" indent="0" marL="0">
                        <a:buNone/>
                      </a:pPr>
                      <a:r>
                        <a:rPr/>
                        <a:t>996</a:t>
                      </a:r>
                    </a:p>
                  </a:txBody>
                </a:tc>
                <a:tc>
                  <a:txBody>
                    <a:bodyPr/>
                    <a:lstStyle/>
                    <a:p>
                      <a:pPr lvl="0" indent="0" marL="0">
                        <a:buNone/>
                      </a:pPr>
                      <a:r>
                        <a:rPr/>
                        <a:t>smoketree</a:t>
                      </a:r>
                    </a:p>
                  </a:txBody>
                </a:tc>
              </a:tr>
              <a:tr h="0">
                <a:tc>
                  <a:txBody>
                    <a:bodyPr/>
                    <a:lstStyle/>
                    <a:p>
                      <a:pPr lvl="0" indent="0" marL="0">
                        <a:buNone/>
                      </a:pPr>
                      <a:r>
                        <a:rPr/>
                        <a:t>455</a:t>
                      </a:r>
                    </a:p>
                  </a:txBody>
                </a:tc>
                <a:tc>
                  <a:txBody>
                    <a:bodyPr/>
                    <a:lstStyle/>
                    <a:p>
                      <a:pPr lvl="0" indent="0" marL="0">
                        <a:buNone/>
                      </a:pPr>
                      <a:r>
                        <a:rPr/>
                        <a:t>997</a:t>
                      </a:r>
                    </a:p>
                  </a:txBody>
                </a:tc>
                <a:tc>
                  <a:txBody>
                    <a:bodyPr/>
                    <a:lstStyle/>
                    <a:p>
                      <a:pPr lvl="0" indent="0" marL="0">
                        <a:buNone/>
                      </a:pPr>
                      <a:r>
                        <a:rPr/>
                        <a:t>Russian-olive</a:t>
                      </a:r>
                    </a:p>
                  </a:txBody>
                </a:tc>
              </a:tr>
              <a:tr h="0">
                <a:tc>
                  <a:txBody>
                    <a:bodyPr/>
                    <a:lstStyle/>
                    <a:p>
                      <a:pPr lvl="0" indent="0" marL="0">
                        <a:buNone/>
                      </a:pPr>
                      <a:r>
                        <a:rPr/>
                        <a:t>456</a:t>
                      </a:r>
                    </a:p>
                  </a:txBody>
                </a:tc>
                <a:tc>
                  <a:txBody>
                    <a:bodyPr/>
                    <a:lstStyle/>
                    <a:p>
                      <a:pPr lvl="0" indent="0" marL="0">
                        <a:buNone/>
                      </a:pPr>
                      <a:r>
                        <a:rPr/>
                        <a:t>998</a:t>
                      </a:r>
                    </a:p>
                  </a:txBody>
                </a:tc>
                <a:tc>
                  <a:txBody>
                    <a:bodyPr/>
                    <a:lstStyle/>
                    <a:p>
                      <a:pPr lvl="0" indent="0" marL="0">
                        <a:buNone/>
                      </a:pPr>
                      <a:r>
                        <a:rPr/>
                        <a:t>Unknown dead hardwood</a:t>
                      </a:r>
                    </a:p>
                  </a:txBody>
                </a:tc>
              </a:tr>
              <a:tr h="0">
                <a:tc>
                  <a:txBody>
                    <a:bodyPr/>
                    <a:lstStyle/>
                    <a:p>
                      <a:pPr lvl="0" indent="0" marL="0">
                        <a:buNone/>
                      </a:pPr>
                      <a:r>
                        <a:rPr/>
                        <a:t>457</a:t>
                      </a:r>
                    </a:p>
                  </a:txBody>
                </a:tc>
                <a:tc>
                  <a:txBody>
                    <a:bodyPr/>
                    <a:lstStyle/>
                    <a:p>
                      <a:pPr lvl="0" indent="0" marL="0">
                        <a:buNone/>
                      </a:pPr>
                      <a:r>
                        <a:rPr/>
                        <a:t>999</a:t>
                      </a:r>
                    </a:p>
                  </a:txBody>
                </a:tc>
                <a:tc>
                  <a:txBody>
                    <a:bodyPr/>
                    <a:lstStyle/>
                    <a:p>
                      <a:pPr lvl="0" indent="0" marL="0">
                        <a:buNone/>
                      </a:pPr>
                      <a:r>
                        <a:rPr/>
                        <a:t>Other or unknown live tree</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c>
                  <a:txBody>
                    <a:bodyPr/>
                    <a:lstStyle/>
                    <a:p>
                      <a:pPr lvl="0" indent="0" marL="0">
                        <a:buNone/>
                      </a:pPr>
                      <a:r>
                        <a:rPr/>
                        <a:t>black willow</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c>
                  <a:txBody>
                    <a:bodyPr/>
                    <a:lstStyle/>
                    <a:p>
                      <a:pPr lvl="0" indent="0" marL="0">
                        <a:buNone/>
                      </a:pPr>
                      <a:r>
                        <a:rPr/>
                        <a:t>black willow</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c>
                  <a:txBody>
                    <a:bodyPr/>
                    <a:lstStyle/>
                    <a:p>
                      <a:pPr lvl="0" indent="0" marL="0">
                        <a:buNone/>
                      </a:pPr>
                      <a:r>
                        <a:rPr/>
                        <a:t>black willow</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c>
                  <a:txBody>
                    <a:bodyPr/>
                    <a:lstStyle/>
                    <a:p>
                      <a:pPr lvl="0" indent="0" marL="0">
                        <a:buNone/>
                      </a:pPr>
                      <a:r>
                        <a:rPr/>
                        <a:t>black willow</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c>
                  <a:txBody>
                    <a:bodyPr/>
                    <a:lstStyle/>
                    <a:p>
                      <a:pPr lvl="0" indent="0" marL="0">
                        <a:buNone/>
                      </a:pPr>
                      <a:r>
                        <a:rPr/>
                        <a:t>black willow</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(RMSLE) for k = 3: 0.1580629318243207
Average (RMSLE) for k = 4: 0.16211701677056745
Average (RMSLE) for k = 5: 0.16799989948813462
Average (RMSLE) for k = 6: 0.17424643902227938
Average (RMSLE) for k = 7: 0.18028016714992606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107641</a:t>
                      </a:r>
                    </a:p>
                  </a:txBody>
                </a:tc>
                <a:tc>
                  <a:txBody>
                    <a:bodyPr/>
                    <a:lstStyle/>
                    <a:p>
                      <a:pPr lvl="0" indent="0" marL="0">
                        <a:buNone/>
                      </a:pPr>
                      <a:r>
                        <a:rPr/>
                        <a:t>461</a:t>
                      </a:r>
                    </a:p>
                  </a:txBody>
                </a:tc>
                <a:tc>
                  <a:txBody>
                    <a:bodyPr/>
                    <a:lstStyle/>
                    <a:p>
                      <a:pPr lvl="0" indent="0" marL="0">
                        <a:buNone/>
                      </a:pPr>
                      <a:r>
                        <a:rPr/>
                        <a:t>17.5</a:t>
                      </a:r>
                    </a:p>
                  </a:txBody>
                </a:tc>
                <a:tc>
                  <a:txBody>
                    <a:bodyPr/>
                    <a:lstStyle/>
                    <a:p>
                      <a:pPr lvl="0" indent="0" marL="0">
                        <a:buNone/>
                      </a:pPr>
                      <a:r>
                        <a:rPr/>
                        <a:t>87.4</a:t>
                      </a:r>
                    </a:p>
                  </a:txBody>
                </a:tc>
                <a:tc>
                  <a:txBody>
                    <a:bodyPr/>
                    <a:lstStyle/>
                    <a:p>
                      <a:pPr lvl="0" indent="0" marL="0">
                        <a:buNone/>
                      </a:pPr>
                      <a:r>
                        <a:rPr/>
                        <a:t>2042.09</a:t>
                      </a:r>
                    </a:p>
                  </a:txBody>
                </a:tc>
                <a:tc>
                  <a:txBody>
                    <a:bodyPr/>
                    <a:lstStyle/>
                    <a:p>
                      <a:pPr lvl="0" indent="0" marL="0">
                        <a:buNone/>
                      </a:pPr>
                      <a:r>
                        <a:rPr/>
                        <a:t>sugarberry</a:t>
                      </a:r>
                    </a:p>
                  </a:txBody>
                </a:tc>
                <a:tc>
                  <a:txBody>
                    <a:bodyPr/>
                    <a:lstStyle/>
                    <a:p>
                      <a:pPr lvl="0" indent="0" marL="0">
                        <a:buNone/>
                      </a:pPr>
                      <a:r>
                        <a:rPr/>
                        <a:t>21022.145834</a:t>
                      </a:r>
                    </a:p>
                  </a:txBody>
                </a:tc>
                <a:tc>
                  <a:txBody>
                    <a:bodyPr/>
                    <a:lstStyle/>
                    <a:p>
                      <a:pPr lvl="0" indent="0" marL="0">
                        <a:buNone/>
                      </a:pPr>
                      <a:r>
                        <a:rPr/>
                        <a:t>1529.50</a:t>
                      </a:r>
                    </a:p>
                  </a:txBody>
                </a:tc>
                <a:tc>
                  <a:txBody>
                    <a:bodyPr/>
                    <a:lstStyle/>
                    <a:p>
                      <a:pPr lvl="0" indent="0" marL="0">
                        <a:buNone/>
                      </a:pPr>
                      <a:r>
                        <a:rPr/>
                        <a:t>7638.76</a:t>
                      </a:r>
                    </a:p>
                  </a:txBody>
                </a:tc>
              </a:tr>
              <a:tr h="0">
                <a:tc>
                  <a:txBody>
                    <a:bodyPr/>
                    <a:lstStyle/>
                    <a:p>
                      <a:pPr lvl="0" indent="0" marL="0">
                        <a:buNone/>
                      </a:pPr>
                      <a:r>
                        <a:rPr/>
                        <a:t>107642</a:t>
                      </a:r>
                    </a:p>
                  </a:txBody>
                </a:tc>
                <a:tc>
                  <a:txBody>
                    <a:bodyPr/>
                    <a:lstStyle/>
                    <a:p>
                      <a:pPr lvl="0" indent="0" marL="0">
                        <a:buNone/>
                      </a:pPr>
                      <a:r>
                        <a:rPr/>
                        <a:t>461</a:t>
                      </a:r>
                    </a:p>
                  </a:txBody>
                </a:tc>
                <a:tc>
                  <a:txBody>
                    <a:bodyPr/>
                    <a:lstStyle/>
                    <a:p>
                      <a:pPr lvl="0" indent="0" marL="0">
                        <a:buNone/>
                      </a:pPr>
                      <a:r>
                        <a:rPr/>
                        <a:t>10.0</a:t>
                      </a:r>
                    </a:p>
                  </a:txBody>
                </a:tc>
                <a:tc>
                  <a:txBody>
                    <a:bodyPr/>
                    <a:lstStyle/>
                    <a:p>
                      <a:pPr lvl="0" indent="0" marL="0">
                        <a:buNone/>
                      </a:pPr>
                      <a:r>
                        <a:rPr/>
                        <a:t>66.5</a:t>
                      </a:r>
                    </a:p>
                  </a:txBody>
                </a:tc>
                <a:tc>
                  <a:txBody>
                    <a:bodyPr/>
                    <a:lstStyle/>
                    <a:p>
                      <a:pPr lvl="0" indent="0" marL="0">
                        <a:buNone/>
                      </a:pPr>
                      <a:r>
                        <a:rPr/>
                        <a:t>565.80</a:t>
                      </a:r>
                    </a:p>
                  </a:txBody>
                </a:tc>
                <a:tc>
                  <a:txBody>
                    <a:bodyPr/>
                    <a:lstStyle/>
                    <a:p>
                      <a:pPr lvl="0" indent="0" marL="0">
                        <a:buNone/>
                      </a:pPr>
                      <a:r>
                        <a:rPr/>
                        <a:t>sugarberry</a:t>
                      </a:r>
                    </a:p>
                  </a:txBody>
                </a:tc>
                <a:tc>
                  <a:txBody>
                    <a:bodyPr/>
                    <a:lstStyle/>
                    <a:p>
                      <a:pPr lvl="0" indent="0" marL="0">
                        <a:buNone/>
                      </a:pPr>
                      <a:r>
                        <a:rPr/>
                        <a:t>5222.893375</a:t>
                      </a:r>
                    </a:p>
                  </a:txBody>
                </a:tc>
                <a:tc>
                  <a:txBody>
                    <a:bodyPr/>
                    <a:lstStyle/>
                    <a:p>
                      <a:pPr lvl="0" indent="0" marL="0">
                        <a:buNone/>
                      </a:pPr>
                      <a:r>
                        <a:rPr/>
                        <a:t>665.00</a:t>
                      </a:r>
                    </a:p>
                  </a:txBody>
                </a:tc>
                <a:tc>
                  <a:txBody>
                    <a:bodyPr/>
                    <a:lstStyle/>
                    <a:p>
                      <a:pPr lvl="0" indent="0" marL="0">
                        <a:buNone/>
                      </a:pPr>
                      <a:r>
                        <a:rPr/>
                        <a:t>4422.25</a:t>
                      </a:r>
                    </a:p>
                  </a:txBody>
                </a:tc>
              </a:tr>
              <a:tr h="0">
                <a:tc>
                  <a:txBody>
                    <a:bodyPr/>
                    <a:lstStyle/>
                    <a:p>
                      <a:pPr lvl="0" indent="0" marL="0">
                        <a:buNone/>
                      </a:pPr>
                      <a:r>
                        <a:rPr/>
                        <a:t>107643</a:t>
                      </a:r>
                    </a:p>
                  </a:txBody>
                </a:tc>
                <a:tc>
                  <a:txBody>
                    <a:bodyPr/>
                    <a:lstStyle/>
                    <a:p>
                      <a:pPr lvl="0" indent="0" marL="0">
                        <a:buNone/>
                      </a:pPr>
                      <a:r>
                        <a:rPr/>
                        <a:t>461</a:t>
                      </a:r>
                    </a:p>
                  </a:txBody>
                </a:tc>
                <a:tc>
                  <a:txBody>
                    <a:bodyPr/>
                    <a:lstStyle/>
                    <a:p>
                      <a:pPr lvl="0" indent="0" marL="0">
                        <a:buNone/>
                      </a:pPr>
                      <a:r>
                        <a:rPr/>
                        <a:t>6.2</a:t>
                      </a:r>
                    </a:p>
                  </a:txBody>
                </a:tc>
                <a:tc>
                  <a:txBody>
                    <a:bodyPr/>
                    <a:lstStyle/>
                    <a:p>
                      <a:pPr lvl="0" indent="0" marL="0">
                        <a:buNone/>
                      </a:pPr>
                      <a:r>
                        <a:rPr/>
                        <a:t>54.2</a:t>
                      </a:r>
                    </a:p>
                  </a:txBody>
                </a:tc>
                <a:tc>
                  <a:txBody>
                    <a:bodyPr/>
                    <a:lstStyle/>
                    <a:p>
                      <a:pPr lvl="0" indent="0" marL="0">
                        <a:buNone/>
                      </a:pPr>
                      <a:r>
                        <a:rPr/>
                        <a:t>191.04</a:t>
                      </a:r>
                    </a:p>
                  </a:txBody>
                </a:tc>
                <a:tc>
                  <a:txBody>
                    <a:bodyPr/>
                    <a:lstStyle/>
                    <a:p>
                      <a:pPr lvl="0" indent="0" marL="0">
                        <a:buNone/>
                      </a:pPr>
                      <a:r>
                        <a:rPr/>
                        <a:t>sugarberry</a:t>
                      </a:r>
                    </a:p>
                  </a:txBody>
                </a:tc>
                <a:tc>
                  <a:txBody>
                    <a:bodyPr/>
                    <a:lstStyle/>
                    <a:p>
                      <a:pPr lvl="0" indent="0" marL="0">
                        <a:buNone/>
                      </a:pPr>
                      <a:r>
                        <a:rPr/>
                        <a:t>1636.334851</a:t>
                      </a:r>
                    </a:p>
                  </a:txBody>
                </a:tc>
                <a:tc>
                  <a:txBody>
                    <a:bodyPr/>
                    <a:lstStyle/>
                    <a:p>
                      <a:pPr lvl="0" indent="0" marL="0">
                        <a:buNone/>
                      </a:pPr>
                      <a:r>
                        <a:rPr/>
                        <a:t>336.04</a:t>
                      </a:r>
                    </a:p>
                  </a:txBody>
                </a:tc>
                <a:tc>
                  <a:txBody>
                    <a:bodyPr/>
                    <a:lstStyle/>
                    <a:p>
                      <a:pPr lvl="0" indent="0" marL="0">
                        <a:buNone/>
                      </a:pPr>
                      <a:r>
                        <a:rPr/>
                        <a:t>2937.64</a:t>
                      </a:r>
                    </a:p>
                  </a:txBody>
                </a:tc>
              </a:tr>
              <a:tr h="0">
                <a:tc>
                  <a:txBody>
                    <a:bodyPr/>
                    <a:lstStyle/>
                    <a:p>
                      <a:pPr lvl="0" indent="0" marL="0">
                        <a:buNone/>
                      </a:pPr>
                      <a:r>
                        <a:rPr/>
                        <a:t>107644</a:t>
                      </a:r>
                    </a:p>
                  </a:txBody>
                </a:tc>
                <a:tc>
                  <a:txBody>
                    <a:bodyPr/>
                    <a:lstStyle/>
                    <a:p>
                      <a:pPr lvl="0" indent="0" marL="0">
                        <a:buNone/>
                      </a:pPr>
                      <a:r>
                        <a:rPr/>
                        <a:t>461</a:t>
                      </a:r>
                    </a:p>
                  </a:txBody>
                </a:tc>
                <a:tc>
                  <a:txBody>
                    <a:bodyPr/>
                    <a:lstStyle/>
                    <a:p>
                      <a:pPr lvl="0" indent="0" marL="0">
                        <a:buNone/>
                      </a:pPr>
                      <a:r>
                        <a:rPr/>
                        <a:t>16.0</a:t>
                      </a:r>
                    </a:p>
                  </a:txBody>
                </a:tc>
                <a:tc>
                  <a:txBody>
                    <a:bodyPr/>
                    <a:lstStyle/>
                    <a:p>
                      <a:pPr lvl="0" indent="0" marL="0">
                        <a:buNone/>
                      </a:pPr>
                      <a:r>
                        <a:rPr/>
                        <a:t>82.5</a:t>
                      </a:r>
                    </a:p>
                  </a:txBody>
                </a:tc>
                <a:tc>
                  <a:txBody>
                    <a:bodyPr/>
                    <a:lstStyle/>
                    <a:p>
                      <a:pPr lvl="0" indent="0" marL="0">
                        <a:buNone/>
                      </a:pPr>
                      <a:r>
                        <a:rPr/>
                        <a:t>1632.64</a:t>
                      </a:r>
                    </a:p>
                  </a:txBody>
                </a:tc>
                <a:tc>
                  <a:txBody>
                    <a:bodyPr/>
                    <a:lstStyle/>
                    <a:p>
                      <a:pPr lvl="0" indent="0" marL="0">
                        <a:buNone/>
                      </a:pPr>
                      <a:r>
                        <a:rPr/>
                        <a:t>sugarberry</a:t>
                      </a:r>
                    </a:p>
                  </a:txBody>
                </a:tc>
                <a:tc>
                  <a:txBody>
                    <a:bodyPr/>
                    <a:lstStyle/>
                    <a:p>
                      <a:pPr lvl="0" indent="0" marL="0">
                        <a:buNone/>
                      </a:pPr>
                      <a:r>
                        <a:rPr/>
                        <a:t>16587.595200</a:t>
                      </a:r>
                    </a:p>
                  </a:txBody>
                </a:tc>
                <a:tc>
                  <a:txBody>
                    <a:bodyPr/>
                    <a:lstStyle/>
                    <a:p>
                      <a:pPr lvl="0" indent="0" marL="0">
                        <a:buNone/>
                      </a:pPr>
                      <a:r>
                        <a:rPr/>
                        <a:t>1320.00</a:t>
                      </a:r>
                    </a:p>
                  </a:txBody>
                </a:tc>
                <a:tc>
                  <a:txBody>
                    <a:bodyPr/>
                    <a:lstStyle/>
                    <a:p>
                      <a:pPr lvl="0" indent="0" marL="0">
                        <a:buNone/>
                      </a:pPr>
                      <a:r>
                        <a:rPr/>
                        <a:t>6806.25</a:t>
                      </a:r>
                    </a:p>
                  </a:txBody>
                </a:tc>
              </a:tr>
              <a:tr h="0">
                <a:tc>
                  <a:txBody>
                    <a:bodyPr/>
                    <a:lstStyle/>
                    <a:p>
                      <a:pPr lvl="0" indent="0" marL="0">
                        <a:buNone/>
                      </a:pPr>
                      <a:r>
                        <a:rPr/>
                        <a:t>107645</a:t>
                      </a:r>
                    </a:p>
                  </a:txBody>
                </a:tc>
                <a:tc>
                  <a:txBody>
                    <a:bodyPr/>
                    <a:lstStyle/>
                    <a:p>
                      <a:pPr lvl="0" indent="0" marL="0">
                        <a:buNone/>
                      </a:pPr>
                      <a:r>
                        <a:rPr/>
                        <a:t>461</a:t>
                      </a:r>
                    </a:p>
                  </a:txBody>
                </a:tc>
                <a:tc>
                  <a:txBody>
                    <a:bodyPr/>
                    <a:lstStyle/>
                    <a:p>
                      <a:pPr lvl="0" indent="0" marL="0">
                        <a:buNone/>
                      </a:pPr>
                      <a:r>
                        <a:rPr/>
                        <a:t>16.7</a:t>
                      </a:r>
                    </a:p>
                  </a:txBody>
                </a:tc>
                <a:tc>
                  <a:txBody>
                    <a:bodyPr/>
                    <a:lstStyle/>
                    <a:p>
                      <a:pPr lvl="0" indent="0" marL="0">
                        <a:buNone/>
                      </a:pPr>
                      <a:r>
                        <a:rPr/>
                        <a:t>76.5</a:t>
                      </a:r>
                    </a:p>
                  </a:txBody>
                </a:tc>
                <a:tc>
                  <a:txBody>
                    <a:bodyPr/>
                    <a:lstStyle/>
                    <a:p>
                      <a:pPr lvl="0" indent="0" marL="0">
                        <a:buNone/>
                      </a:pPr>
                      <a:r>
                        <a:rPr/>
                        <a:t>1644.66</a:t>
                      </a:r>
                    </a:p>
                  </a:txBody>
                </a:tc>
                <a:tc>
                  <a:txBody>
                    <a:bodyPr/>
                    <a:lstStyle/>
                    <a:p>
                      <a:pPr lvl="0" indent="0" marL="0">
                        <a:buNone/>
                      </a:pPr>
                      <a:r>
                        <a:rPr/>
                        <a:t>sugarberry</a:t>
                      </a:r>
                    </a:p>
                  </a:txBody>
                </a:tc>
                <a:tc>
                  <a:txBody>
                    <a:bodyPr/>
                    <a:lstStyle/>
                    <a:p>
                      <a:pPr lvl="0" indent="0" marL="0">
                        <a:buNone/>
                      </a:pPr>
                      <a:r>
                        <a:rPr/>
                        <a:t>16756.522421</a:t>
                      </a:r>
                    </a:p>
                  </a:txBody>
                </a:tc>
                <a:tc>
                  <a:txBody>
                    <a:bodyPr/>
                    <a:lstStyle/>
                    <a:p>
                      <a:pPr lvl="0" indent="0" marL="0">
                        <a:buNone/>
                      </a:pPr>
                      <a:r>
                        <a:rPr/>
                        <a:t>1277.55</a:t>
                      </a:r>
                    </a:p>
                  </a:txBody>
                </a:tc>
                <a:tc>
                  <a:txBody>
                    <a:bodyPr/>
                    <a:lstStyle/>
                    <a:p>
                      <a:pPr lvl="0" indent="0" marL="0">
                        <a:buNone/>
                      </a:pPr>
                      <a:r>
                        <a:rPr/>
                        <a:t>5852.25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a:buNone/>
            </a:pPr>
            <a:r>
              <a:rPr>
                <a:latin typeface="Courier"/>
              </a:rPr>
              <a:t>Height squared average RMSLE: 0.17182461751440922
Height * diameter interacion average RMSLE: 0.15621192802587167
Volume feature average RMSLE: 0.1554593982967315</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
        <p:nvSpPr>
          <p:cNvPr id="3" name="Content Placeholder 2"/>
          <p:cNvSpPr>
            <a:spLocks noGrp="1"/>
          </p:cNvSpPr>
          <p:nvPr>
            <p:ph idx="1"/>
          </p:nvPr>
        </p:nvSpPr>
        <p:spPr/>
        <p:txBody>
          <a:bodyPr/>
          <a:lstStyle/>
          <a:p>
            <a:pPr lvl="0"/>
            <a:r>
              <a:rPr/>
              <a:t>Testing uncertainty quantification methods for our prediction intervals</a:t>
            </a:r>
          </a:p>
          <a:p>
            <a:pPr lvl="0"/>
            <a:r>
              <a:rPr/>
              <a:t>We did not use a linear model, so t-based prediction intervals couldn’t be made</a:t>
            </a:r>
          </a:p>
          <a:p>
            <a:pPr lvl="0"/>
            <a:r>
              <a:rPr/>
              <a:t>Compared the other three methods</a:t>
            </a:r>
          </a:p>
          <a:p>
            <a:pPr lvl="1"/>
            <a:r>
              <a:rPr/>
              <a:t>Conformal Prediction Intervals</a:t>
            </a:r>
          </a:p>
          <a:p>
            <a:pPr lvl="1"/>
            <a:r>
              <a:rPr/>
              <a:t>Quantile Regression Prediction Intervals</a:t>
            </a:r>
          </a:p>
          <a:p>
            <a:pPr lvl="1"/>
            <a:r>
              <a:rPr/>
              <a:t>Conformalized Quantile Regression (CQR) Prediction Intervals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Conformal Prediction Intervals</a:t>
            </a:r>
          </a:p>
        </p:txBody>
      </p:sp>
      <p:pic>
        <p:nvPicPr>
          <p:cNvPr descr="presentation_files/figure-pptx/cell-20-output-1.png" id="0" name="Picture 1"/>
          <p:cNvPicPr>
            <a:picLocks noGrp="1" noChangeAspect="1"/>
          </p:cNvPicPr>
          <p:nvPr/>
        </p:nvPicPr>
        <p:blipFill>
          <a:blip r:embed="rId2"/>
          <a:stretch>
            <a:fillRect/>
          </a:stretch>
        </p:blipFill>
        <p:spPr bwMode="auto">
          <a:xfrm>
            <a:off x="2197100" y="1193800"/>
            <a:ext cx="47625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2025-12-15T20:24:35Z</dcterms:created>
  <dcterms:modified xsi:type="dcterms:W3CDTF">2025-12-15T20:24:35Z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