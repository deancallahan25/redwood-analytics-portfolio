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3" Type="http://schemas.openxmlformats.org/officeDocument/2006/relationships/viewProps" Target="viewProps.xml" /><Relationship Id="rId22" Type="http://schemas.openxmlformats.org/officeDocument/2006/relationships/presProps" Target="presProps.xml" /><Relationship Id="rId1" Type="http://schemas.openxmlformats.org/officeDocument/2006/relationships/slideMaster" Target="slideMasters/slideMaster1.xml" /><Relationship Id="rId25" Type="http://schemas.openxmlformats.org/officeDocument/2006/relationships/tableStyles" Target="tableStyles.xml" /><Relationship Id="rId2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indent="0" marL="0">
              <a:buNone/>
            </a:pPr>
            <a:r>
              <a:rPr/>
              <a:t>The Performance metric we choose is Root Mean Square Logarithmic Error(RMSLE), because when we were looking at the dataset of the biomass of different kinds of tree species, we saw that some species have more data than other species so the assume that the data is skewed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125.827396</a:t>
                      </a:r>
                    </a:p>
                  </a:txBody>
                </a:tc>
                <a:tc>
                  <a:txBody>
                    <a:bodyPr/>
                    <a:lstStyle/>
                    <a:p>
                      <a:pPr lvl="0" indent="0" marL="0">
                        <a:buNone/>
                      </a:pPr>
                      <a:r>
                        <a:rPr/>
                        <a:t>34.820565</a:t>
                      </a:r>
                    </a:p>
                  </a:txBody>
                </a:tc>
                <a:tc>
                  <a:txBody>
                    <a:bodyPr/>
                    <a:lstStyle/>
                    <a:p>
                      <a:pPr lvl="0" indent="0" marL="0">
                        <a:buNone/>
                      </a:pPr>
                      <a:r>
                        <a:rPr/>
                        <a:t>0.119617</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129.650855</a:t>
                      </a:r>
                    </a:p>
                  </a:txBody>
                </a:tc>
                <a:tc>
                  <a:txBody>
                    <a:bodyPr/>
                    <a:lstStyle/>
                    <a:p>
                      <a:pPr lvl="0" indent="0" marL="0">
                        <a:buNone/>
                      </a:pPr>
                      <a:r>
                        <a:rPr/>
                        <a:t>36.628377</a:t>
                      </a:r>
                    </a:p>
                  </a:txBody>
                </a:tc>
                <a:tc>
                  <a:txBody>
                    <a:bodyPr/>
                    <a:lstStyle/>
                    <a:p>
                      <a:pPr lvl="0" indent="0" marL="0">
                        <a:buNone/>
                      </a:pPr>
                      <a:r>
                        <a:rPr/>
                        <a:t>0.123679</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145.002852</a:t>
                      </a:r>
                    </a:p>
                  </a:txBody>
                </a:tc>
                <a:tc>
                  <a:txBody>
                    <a:bodyPr/>
                    <a:lstStyle/>
                    <a:p>
                      <a:pPr lvl="0" indent="0" marL="0">
                        <a:buNone/>
                      </a:pPr>
                      <a:r>
                        <a:rPr/>
                        <a:t>41.168470</a:t>
                      </a:r>
                    </a:p>
                  </a:txBody>
                </a:tc>
                <a:tc>
                  <a:txBody>
                    <a:bodyPr/>
                    <a:lstStyle/>
                    <a:p>
                      <a:pPr lvl="0" indent="0" marL="0">
                        <a:buNone/>
                      </a:pPr>
                      <a:r>
                        <a:rPr/>
                        <a:t>0.144052</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147.449208</a:t>
                      </a:r>
                    </a:p>
                  </a:txBody>
                </a:tc>
                <a:tc>
                  <a:txBody>
                    <a:bodyPr/>
                    <a:lstStyle/>
                    <a:p>
                      <a:pPr lvl="0" indent="0" marL="0">
                        <a:buNone/>
                      </a:pPr>
                      <a:r>
                        <a:rPr/>
                        <a:t>40.728609</a:t>
                      </a:r>
                    </a:p>
                  </a:txBody>
                </a:tc>
                <a:tc>
                  <a:txBody>
                    <a:bodyPr/>
                    <a:lstStyle/>
                    <a:p>
                      <a:pPr lvl="0" indent="0" marL="0">
                        <a:buNone/>
                      </a:pPr>
                      <a:r>
                        <a:rPr/>
                        <a:t>0.142813</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
        <p:nvSpPr>
          <p:cNvPr id="3" name="Content Placeholder 2"/>
          <p:cNvSpPr>
            <a:spLocks noGrp="1"/>
          </p:cNvSpPr>
          <p:nvPr>
            <p:ph idx="1"/>
          </p:nvPr>
        </p:nvSpPr>
        <p:spPr/>
        <p:txBody>
          <a:bodyPr/>
          <a:lstStyle/>
          <a:p>
            <a:pPr lvl="0"/>
            <a:r>
              <a:rPr/>
              <a:t>Overview of data manipulation</a:t>
            </a:r>
          </a:p>
          <a:p>
            <a:pPr lvl="0"/>
            <a:r>
              <a:rPr/>
              <a:t>Split and filtering methods</a:t>
            </a:r>
          </a:p>
          <a:p>
            <a:pPr lvl="0"/>
            <a:r>
              <a:rPr/>
              <a:t>Feature engineering (what worked and what didn’t)</a:t>
            </a:r>
          </a:p>
          <a:p>
            <a:pPr lvl="0"/>
            <a:r>
              <a:rPr/>
              <a:t>Tuning k for the best model</a:t>
            </a:r>
          </a:p>
          <a:p>
            <a:pPr lvl="0"/>
            <a:r>
              <a:rPr/>
              <a:t>The final “best” model and error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a:t>
            </a:r>
          </a:p>
        </p:txBody>
      </p:sp>
      <p:sp>
        <p:nvSpPr>
          <p:cNvPr id="3" name="Content Placeholder 2"/>
          <p:cNvSpPr>
            <a:spLocks noGrp="1"/>
          </p:cNvSpPr>
          <p:nvPr>
            <p:ph idx="1"/>
          </p:nvPr>
        </p:nvSpPr>
        <p:spPr/>
        <p:txBody>
          <a:bodyPr/>
          <a:lstStyle/>
          <a:p>
            <a:pPr lvl="0" indent="0">
              <a:buNone/>
            </a:pPr>
            <a:r>
              <a:rPr>
                <a:latin typeface="Courier"/>
              </a:rPr>
              <a:t>SPCD  DO_BH  HT_TOT  TT_DW_CRM  COMMON_NAME               
111   5.0    39.0    69.03      slash pine                    14
      5.3    39.0    82.00      slash pine                    13
      7.0    50.0    223.34     slash pine                    13
131   7.0    50.0    196.35     loblolly pine                 11
111   5.2    35.0    66.34      slash pine                    11
                                                              ..
999   12.8   63.0    885.17     Other or unknown live tree     1
      13.0   54.0    788.82     Other or unknown live tree     1
      13.2   40.0    616.66     Other or unknown live tree     1
      13.3   72.0    1074.07    Other or unknown live tree     1
12    1.6    13.4    3.78       balsam fir                     1
Name: count, Length: 115454, dtype: int64</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Base datset calculations:</a:t>
            </a:r>
          </a:p>
        </p:txBody>
      </p:sp>
      <p:sp>
        <p:nvSpPr>
          <p:cNvPr id="3" name="Content Placeholder 2"/>
          <p:cNvSpPr>
            <a:spLocks noGrp="1"/>
          </p:cNvSpPr>
          <p:nvPr>
            <p:ph idx="1"/>
          </p:nvPr>
        </p:nvSpPr>
        <p:spPr/>
        <p:txBody>
          <a:bodyPr/>
          <a:lstStyle/>
          <a:p>
            <a:pPr lvl="0" indent="0">
              <a:buNone/>
            </a:pPr>
            <a:r>
              <a:rPr>
                <a:latin typeface="Courier"/>
              </a:rPr>
              <a:t>Average Root Mean Squared Log Error (RMSLE) for k 3: 0.15806802121296354</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2025-12-15T00:24:10Z</dcterms:created>
  <dcterms:modified xsi:type="dcterms:W3CDTF">2025-12-15T00:24:10Z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