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Redwood Analytics Project 3: Predicting Tree Biomass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By Evan Blem, Dean Callahan, Zach Griffiths, and Jaiden Roe</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Dictionary</a:t>
            </a:r>
          </a:p>
        </p:txBody>
      </p:sp>
      <p:sp>
        <p:nvSpPr>
          <p:cNvPr id="3" name="Content Placeholder 2"/>
          <p:cNvSpPr>
            <a:spLocks noGrp="1"/>
          </p:cNvSpPr>
          <p:nvPr>
            <p:ph idx="1"/>
          </p:nvPr>
        </p:nvSpPr>
        <p:spPr/>
        <p:txBody>
          <a:bodyPr/>
          <a:lstStyle/>
          <a:p>
            <a:pPr lvl="0"/>
            <a:r>
              <a:rPr/>
              <a:t>SPCD (FIA Species Code): A numeric code which unqiuely identifies each tree species and corresponds to a scientific and common name for the tree as specified by the FIA (Forest Inventory and Analysis) species coding system.</a:t>
            </a:r>
          </a:p>
          <a:p>
            <a:pPr lvl="0"/>
            <a:r>
              <a:rPr/>
              <a:t>DO_BH (Diameter at Breast Height): Diameter of the tree stem measured at breast height (4.5 feet or 1.37 meters above ground) including bark. This is the standard foresty measurement “DBH (outside bark)” and is the primary size variable used in nearly all allometric biomass models. This is measured in </a:t>
            </a:r>
            <a:r>
              <a:rPr b="1"/>
              <a:t>inches</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Dictionary Continued</a:t>
            </a:r>
          </a:p>
        </p:txBody>
      </p:sp>
      <p:sp>
        <p:nvSpPr>
          <p:cNvPr id="3" name="Content Placeholder 2"/>
          <p:cNvSpPr>
            <a:spLocks noGrp="1"/>
          </p:cNvSpPr>
          <p:nvPr>
            <p:ph idx="1"/>
          </p:nvPr>
        </p:nvSpPr>
        <p:spPr/>
        <p:txBody>
          <a:bodyPr/>
          <a:lstStyle/>
          <a:p>
            <a:pPr lvl="0"/>
            <a:r>
              <a:rPr/>
              <a:t>HT_TOT (Total Tree Height): The total height of the tree measured from ground level to the top of the crown. Used as a second size metric in volume and biomass modeling. This is measured in </a:t>
            </a:r>
            <a:r>
              <a:rPr b="1"/>
              <a:t>feet</a:t>
            </a:r>
            <a:r>
              <a:rPr/>
              <a:t>.</a:t>
            </a:r>
          </a:p>
          <a:p>
            <a:pPr lvl="0"/>
            <a:r>
              <a:rPr/>
              <a:t>TT_DW_CRM (Total Tree Dry Biomass): The total above-ground dry weight of the tree (includes stem wood, stem bark, branches, folliage). The value comes from destructive sampling: the tree was felled, separated into componenets, oven-dried, and weighed. This variable serves as the target variable from biomass prediction. Measured in </a:t>
            </a:r>
            <a:r>
              <a:rPr b="1"/>
              <a:t>kilograms</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Univariate Visualizations</a:t>
            </a:r>
          </a:p>
        </p:txBody>
      </p:sp>
      <p:pic>
        <p:nvPicPr>
          <p:cNvPr descr="presentation_files/figure-pptx/cell-3-output-1.png" id="0" name="Picture 1"/>
          <p:cNvPicPr>
            <a:picLocks noGrp="1" noChangeAspect="1"/>
          </p:cNvPicPr>
          <p:nvPr/>
        </p:nvPicPr>
        <p:blipFill>
          <a:blip r:embed="rId2"/>
          <a:stretch>
            <a:fillRect/>
          </a:stretch>
        </p:blipFill>
        <p:spPr bwMode="auto">
          <a:xfrm>
            <a:off x="1346200" y="1193800"/>
            <a:ext cx="6451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Summaries</a:t>
            </a:r>
          </a:p>
        </p:txBody>
      </p:sp>
      <p:sp>
        <p:nvSpPr>
          <p:cNvPr id="4" name="Text Placeholder 3"/>
          <p:cNvSpPr>
            <a:spLocks noGrp="1"/>
          </p:cNvSpPr>
          <p:nvPr>
            <p:ph idx="2" sz="half" type="body"/>
          </p:nvPr>
        </p:nvSpPr>
        <p:spPr/>
        <p:txBody>
          <a:bodyPr/>
          <a:lstStyle/>
          <a:p>
            <a:pPr lvl="0" indent="0">
              <a:buNone/>
            </a:pPr>
            <a:r>
              <a:rPr>
                <a:latin typeface="Courier"/>
              </a:rPr>
              <a:t>COMMON_NAME
loblolly pine     20140
slash pine         8006
Douglas-fir        7322
ponderosa pine     5609
shortleaf pine     5599
longleaf pine      4949
white oak          3955
sweetgum           3494
yellow-poplar      3372
red maple          3109
Name: count, dtype: int64</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r>
              <a:tr h="0">
                <a:tc>
                  <a:txBody>
                    <a:bodyPr/>
                    <a:lstStyle/>
                    <a:p>
                      <a:pPr lvl="0" indent="0" marL="0">
                        <a:buNone/>
                      </a:pPr>
                      <a:r>
                        <a:rPr/>
                        <a:t>count</a:t>
                      </a:r>
                    </a:p>
                  </a:txBody>
                </a:tc>
                <a:tc>
                  <a:txBody>
                    <a:bodyPr/>
                    <a:lstStyle/>
                    <a:p>
                      <a:pPr lvl="0" indent="0" marL="0">
                        <a:buNone/>
                      </a:pPr>
                      <a:r>
                        <a:rPr/>
                        <a:t>137079.000000</a:t>
                      </a:r>
                    </a:p>
                  </a:txBody>
                </a:tc>
                <a:tc>
                  <a:txBody>
                    <a:bodyPr/>
                    <a:lstStyle/>
                    <a:p>
                      <a:pPr lvl="0" indent="0" marL="0">
                        <a:buNone/>
                      </a:pPr>
                      <a:r>
                        <a:rPr/>
                        <a:t>137079.000000</a:t>
                      </a:r>
                    </a:p>
                  </a:txBody>
                </a:tc>
                <a:tc>
                  <a:txBody>
                    <a:bodyPr/>
                    <a:lstStyle/>
                    <a:p>
                      <a:pPr lvl="0" indent="0" marL="0">
                        <a:buNone/>
                      </a:pPr>
                      <a:r>
                        <a:rPr/>
                        <a:t>137079.000000</a:t>
                      </a:r>
                    </a:p>
                  </a:txBody>
                </a:tc>
                <a:tc>
                  <a:txBody>
                    <a:bodyPr/>
                    <a:lstStyle/>
                    <a:p>
                      <a:pPr lvl="0" indent="0" marL="0">
                        <a:buNone/>
                      </a:pPr>
                      <a:r>
                        <a:rPr/>
                        <a:t>1.370790e+05</a:t>
                      </a:r>
                    </a:p>
                  </a:txBody>
                </a:tc>
              </a:tr>
              <a:tr h="0">
                <a:tc>
                  <a:txBody>
                    <a:bodyPr/>
                    <a:lstStyle/>
                    <a:p>
                      <a:pPr lvl="0" indent="0" marL="0">
                        <a:buNone/>
                      </a:pPr>
                      <a:r>
                        <a:rPr/>
                        <a:t>mean</a:t>
                      </a:r>
                    </a:p>
                  </a:txBody>
                </a:tc>
                <a:tc>
                  <a:txBody>
                    <a:bodyPr/>
                    <a:lstStyle/>
                    <a:p>
                      <a:pPr lvl="0" indent="0" marL="0">
                        <a:buNone/>
                      </a:pPr>
                      <a:r>
                        <a:rPr/>
                        <a:t>341.054465</a:t>
                      </a:r>
                    </a:p>
                  </a:txBody>
                </a:tc>
                <a:tc>
                  <a:txBody>
                    <a:bodyPr/>
                    <a:lstStyle/>
                    <a:p>
                      <a:pPr lvl="0" indent="0" marL="0">
                        <a:buNone/>
                      </a:pPr>
                      <a:r>
                        <a:rPr/>
                        <a:t>11.104809</a:t>
                      </a:r>
                    </a:p>
                  </a:txBody>
                </a:tc>
                <a:tc>
                  <a:txBody>
                    <a:bodyPr/>
                    <a:lstStyle/>
                    <a:p>
                      <a:pPr lvl="0" indent="0" marL="0">
                        <a:buNone/>
                      </a:pPr>
                      <a:r>
                        <a:rPr/>
                        <a:t>62.081565</a:t>
                      </a:r>
                    </a:p>
                  </a:txBody>
                </a:tc>
                <a:tc>
                  <a:txBody>
                    <a:bodyPr/>
                    <a:lstStyle/>
                    <a:p>
                      <a:pPr lvl="0" indent="0" marL="0">
                        <a:buNone/>
                      </a:pPr>
                      <a:r>
                        <a:rPr/>
                        <a:t>1.530719e+03</a:t>
                      </a:r>
                    </a:p>
                  </a:txBody>
                </a:tc>
              </a:tr>
              <a:tr h="0">
                <a:tc>
                  <a:txBody>
                    <a:bodyPr/>
                    <a:lstStyle/>
                    <a:p>
                      <a:pPr lvl="0" indent="0" marL="0">
                        <a:buNone/>
                      </a:pPr>
                      <a:r>
                        <a:rPr/>
                        <a:t>std</a:t>
                      </a:r>
                    </a:p>
                  </a:txBody>
                </a:tc>
                <a:tc>
                  <a:txBody>
                    <a:bodyPr/>
                    <a:lstStyle/>
                    <a:p>
                      <a:pPr lvl="0" indent="0" marL="0">
                        <a:buNone/>
                      </a:pPr>
                      <a:r>
                        <a:rPr/>
                        <a:t>341.609599</a:t>
                      </a:r>
                    </a:p>
                  </a:txBody>
                </a:tc>
                <a:tc>
                  <a:txBody>
                    <a:bodyPr/>
                    <a:lstStyle/>
                    <a:p>
                      <a:pPr lvl="0" indent="0" marL="0">
                        <a:buNone/>
                      </a:pPr>
                      <a:r>
                        <a:rPr/>
                        <a:t>8.046896</a:t>
                      </a:r>
                    </a:p>
                  </a:txBody>
                </a:tc>
                <a:tc>
                  <a:txBody>
                    <a:bodyPr/>
                    <a:lstStyle/>
                    <a:p>
                      <a:pPr lvl="0" indent="0" marL="0">
                        <a:buNone/>
                      </a:pPr>
                      <a:r>
                        <a:rPr/>
                        <a:t>25.834963</a:t>
                      </a:r>
                    </a:p>
                  </a:txBody>
                </a:tc>
                <a:tc>
                  <a:txBody>
                    <a:bodyPr/>
                    <a:lstStyle/>
                    <a:p>
                      <a:pPr lvl="0" indent="0" marL="0">
                        <a:buNone/>
                      </a:pPr>
                      <a:r>
                        <a:rPr/>
                        <a:t>1.698299e+04</a:t>
                      </a:r>
                    </a:p>
                  </a:txBody>
                </a:tc>
              </a:tr>
              <a:tr h="0">
                <a:tc>
                  <a:txBody>
                    <a:bodyPr/>
                    <a:lstStyle/>
                    <a:p>
                      <a:pPr lvl="0" indent="0" marL="0">
                        <a:buNone/>
                      </a:pPr>
                      <a:r>
                        <a:rPr/>
                        <a:t>min</a:t>
                      </a:r>
                    </a:p>
                  </a:txBody>
                </a:tc>
                <a:tc>
                  <a:txBody>
                    <a:bodyPr/>
                    <a:lstStyle/>
                    <a:p>
                      <a:pPr lvl="0" indent="0" marL="0">
                        <a:buNone/>
                      </a:pPr>
                      <a:r>
                        <a:rPr/>
                        <a:t>10.000000</a:t>
                      </a:r>
                    </a:p>
                  </a:txBody>
                </a:tc>
                <a:tc>
                  <a:txBody>
                    <a:bodyPr/>
                    <a:lstStyle/>
                    <a:p>
                      <a:pPr lvl="0" indent="0" marL="0">
                        <a:buNone/>
                      </a:pPr>
                      <a:r>
                        <a:rPr/>
                        <a:t>1.000000</a:t>
                      </a:r>
                    </a:p>
                  </a:txBody>
                </a:tc>
                <a:tc>
                  <a:txBody>
                    <a:bodyPr/>
                    <a:lstStyle/>
                    <a:p>
                      <a:pPr lvl="0" indent="0" marL="0">
                        <a:buNone/>
                      </a:pPr>
                      <a:r>
                        <a:rPr/>
                        <a:t>1.400000</a:t>
                      </a:r>
                    </a:p>
                  </a:txBody>
                </a:tc>
                <a:tc>
                  <a:txBody>
                    <a:bodyPr/>
                    <a:lstStyle/>
                    <a:p>
                      <a:pPr lvl="0" indent="0" marL="0">
                        <a:buNone/>
                      </a:pPr>
                      <a:r>
                        <a:rPr/>
                        <a:t>1.020000e+00</a:t>
                      </a:r>
                    </a:p>
                  </a:txBody>
                </a:tc>
              </a:tr>
              <a:tr h="0">
                <a:tc>
                  <a:txBody>
                    <a:bodyPr/>
                    <a:lstStyle/>
                    <a:p>
                      <a:pPr lvl="0" indent="0" marL="0">
                        <a:buNone/>
                      </a:pPr>
                      <a:r>
                        <a:rPr/>
                        <a:t>25%</a:t>
                      </a:r>
                    </a:p>
                  </a:txBody>
                </a:tc>
                <a:tc>
                  <a:txBody>
                    <a:bodyPr/>
                    <a:lstStyle/>
                    <a:p>
                      <a:pPr lvl="0" indent="0" marL="0">
                        <a:buNone/>
                      </a:pPr>
                      <a:r>
                        <a:rPr/>
                        <a:t>121.000000</a:t>
                      </a:r>
                    </a:p>
                  </a:txBody>
                </a:tc>
                <a:tc>
                  <a:txBody>
                    <a:bodyPr/>
                    <a:lstStyle/>
                    <a:p>
                      <a:pPr lvl="0" indent="0" marL="0">
                        <a:buNone/>
                      </a:pPr>
                      <a:r>
                        <a:rPr/>
                        <a:t>6.500000</a:t>
                      </a:r>
                    </a:p>
                  </a:txBody>
                </a:tc>
                <a:tc>
                  <a:txBody>
                    <a:bodyPr/>
                    <a:lstStyle/>
                    <a:p>
                      <a:pPr lvl="0" indent="0" marL="0">
                        <a:buNone/>
                      </a:pPr>
                      <a:r>
                        <a:rPr/>
                        <a:t>45.000000</a:t>
                      </a:r>
                    </a:p>
                  </a:txBody>
                </a:tc>
                <a:tc>
                  <a:txBody>
                    <a:bodyPr/>
                    <a:lstStyle/>
                    <a:p>
                      <a:pPr lvl="0" indent="0" marL="0">
                        <a:buNone/>
                      </a:pPr>
                      <a:r>
                        <a:rPr/>
                        <a:t>1.689850e+02</a:t>
                      </a:r>
                    </a:p>
                  </a:txBody>
                </a:tc>
              </a:tr>
              <a:tr h="0">
                <a:tc>
                  <a:txBody>
                    <a:bodyPr/>
                    <a:lstStyle/>
                    <a:p>
                      <a:pPr lvl="0" indent="0" marL="0">
                        <a:buNone/>
                      </a:pPr>
                      <a:r>
                        <a:rPr/>
                        <a:t>50%</a:t>
                      </a:r>
                    </a:p>
                  </a:txBody>
                </a:tc>
                <a:tc>
                  <a:txBody>
                    <a:bodyPr/>
                    <a:lstStyle/>
                    <a:p>
                      <a:pPr lvl="0" indent="0" marL="0">
                        <a:buNone/>
                      </a:pPr>
                      <a:r>
                        <a:rPr/>
                        <a:t>132.000000</a:t>
                      </a:r>
                    </a:p>
                  </a:txBody>
                </a:tc>
                <a:tc>
                  <a:txBody>
                    <a:bodyPr/>
                    <a:lstStyle/>
                    <a:p>
                      <a:pPr lvl="0" indent="0" marL="0">
                        <a:buNone/>
                      </a:pPr>
                      <a:r>
                        <a:rPr/>
                        <a:t>9.900000</a:t>
                      </a:r>
                    </a:p>
                  </a:txBody>
                </a:tc>
                <a:tc>
                  <a:txBody>
                    <a:bodyPr/>
                    <a:lstStyle/>
                    <a:p>
                      <a:pPr lvl="0" indent="0" marL="0">
                        <a:buNone/>
                      </a:pPr>
                      <a:r>
                        <a:rPr/>
                        <a:t>61.100000</a:t>
                      </a:r>
                    </a:p>
                  </a:txBody>
                </a:tc>
                <a:tc>
                  <a:txBody>
                    <a:bodyPr/>
                    <a:lstStyle/>
                    <a:p>
                      <a:pPr lvl="0" indent="0" marL="0">
                        <a:buNone/>
                      </a:pPr>
                      <a:r>
                        <a:rPr/>
                        <a:t>5.276000e+02</a:t>
                      </a:r>
                    </a:p>
                  </a:txBody>
                </a:tc>
              </a:tr>
              <a:tr h="0">
                <a:tc>
                  <a:txBody>
                    <a:bodyPr/>
                    <a:lstStyle/>
                    <a:p>
                      <a:pPr lvl="0" indent="0" marL="0">
                        <a:buNone/>
                      </a:pPr>
                      <a:r>
                        <a:rPr/>
                        <a:t>75%</a:t>
                      </a:r>
                    </a:p>
                  </a:txBody>
                </a:tc>
                <a:tc>
                  <a:txBody>
                    <a:bodyPr/>
                    <a:lstStyle/>
                    <a:p>
                      <a:pPr lvl="0" indent="0" marL="0">
                        <a:buNone/>
                      </a:pPr>
                      <a:r>
                        <a:rPr/>
                        <a:t>611.000000</a:t>
                      </a:r>
                    </a:p>
                  </a:txBody>
                </a:tc>
                <a:tc>
                  <a:txBody>
                    <a:bodyPr/>
                    <a:lstStyle/>
                    <a:p>
                      <a:pPr lvl="0" indent="0" marL="0">
                        <a:buNone/>
                      </a:pPr>
                      <a:r>
                        <a:rPr/>
                        <a:t>14.300000</a:t>
                      </a:r>
                    </a:p>
                  </a:txBody>
                </a:tc>
                <a:tc>
                  <a:txBody>
                    <a:bodyPr/>
                    <a:lstStyle/>
                    <a:p>
                      <a:pPr lvl="0" indent="0" marL="0">
                        <a:buNone/>
                      </a:pPr>
                      <a:r>
                        <a:rPr/>
                        <a:t>76.700000</a:t>
                      </a:r>
                    </a:p>
                  </a:txBody>
                </a:tc>
                <a:tc>
                  <a:txBody>
                    <a:bodyPr/>
                    <a:lstStyle/>
                    <a:p>
                      <a:pPr lvl="0" indent="0" marL="0">
                        <a:buNone/>
                      </a:pPr>
                      <a:r>
                        <a:rPr/>
                        <a:t>1.352070e+03</a:t>
                      </a:r>
                    </a:p>
                  </a:txBody>
                </a:tc>
              </a:tr>
              <a:tr h="0">
                <a:tc>
                  <a:txBody>
                    <a:bodyPr/>
                    <a:lstStyle/>
                    <a:p>
                      <a:pPr lvl="0" indent="0" marL="0">
                        <a:buNone/>
                      </a:pPr>
                      <a:r>
                        <a:rPr/>
                        <a:t>max</a:t>
                      </a:r>
                    </a:p>
                  </a:txBody>
                </a:tc>
                <a:tc>
                  <a:txBody>
                    <a:bodyPr/>
                    <a:lstStyle/>
                    <a:p>
                      <a:pPr lvl="0" indent="0" marL="0">
                        <a:buNone/>
                      </a:pPr>
                      <a:r>
                        <a:rPr/>
                        <a:t>8768.000000</a:t>
                      </a:r>
                    </a:p>
                  </a:txBody>
                </a:tc>
                <a:tc>
                  <a:txBody>
                    <a:bodyPr/>
                    <a:lstStyle/>
                    <a:p>
                      <a:pPr lvl="0" indent="0" marL="0">
                        <a:buNone/>
                      </a:pPr>
                      <a:r>
                        <a:rPr/>
                        <a:t>334.900000</a:t>
                      </a:r>
                    </a:p>
                  </a:txBody>
                </a:tc>
                <a:tc>
                  <a:txBody>
                    <a:bodyPr/>
                    <a:lstStyle/>
                    <a:p>
                      <a:pPr lvl="0" indent="0" marL="0">
                        <a:buNone/>
                      </a:pPr>
                      <a:r>
                        <a:rPr/>
                        <a:t>379.300000</a:t>
                      </a:r>
                    </a:p>
                  </a:txBody>
                </a:tc>
                <a:tc>
                  <a:txBody>
                    <a:bodyPr/>
                    <a:lstStyle/>
                    <a:p>
                      <a:pPr lvl="0" indent="0" marL="0">
                        <a:buNone/>
                      </a:pPr>
                      <a:r>
                        <a:rPr/>
                        <a:t>1.385886e+06</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Summaries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endParaRPr/>
                    </a:p>
                  </a:txBody>
                  <a:tcPr/>
                </a:tc>
                <a:tc>
                  <a:txBody>
                    <a:bodyPr/>
                    <a:lstStyle/>
                    <a:p>
                      <a:pPr lvl="0" indent="0" marL="0">
                        <a:buNone/>
                      </a:pPr>
                      <a:r>
                        <a:rPr/>
                        <a:t>HT_TOT</a:t>
                      </a:r>
                    </a:p>
                  </a:txBody>
                  <a:tcPr/>
                </a:tc>
                <a:tc>
                  <a:txBody>
                    <a:bodyPr/>
                    <a:lstStyle/>
                    <a:p>
                      <a:pPr lvl="0" indent="0" marL="0">
                        <a:buNone/>
                      </a:pPr>
                      <a:r>
                        <a:rPr/>
                        <a:t>DO_BH</a:t>
                      </a:r>
                    </a:p>
                  </a:txBody>
                  <a:tcPr/>
                </a:tc>
                <a:tc>
                  <a:txBody>
                    <a:bodyPr/>
                    <a:lstStyle/>
                    <a:p>
                      <a:pPr lvl="0" indent="0" marL="0">
                        <a:buNone/>
                      </a:pPr>
                      <a:r>
                        <a:rPr/>
                        <a:t>TT_DW_CRM</a:t>
                      </a:r>
                    </a:p>
                  </a:txBody>
                  <a:tcPr/>
                </a:tc>
              </a:tr>
              <a:tr h="0">
                <a:tc>
                  <a:txBody>
                    <a:bodyPr/>
                    <a:lstStyle/>
                    <a:p>
                      <a:pPr lvl="0" indent="0" marL="0">
                        <a:buNone/>
                      </a:pPr>
                      <a:r>
                        <a:rPr/>
                        <a:t>COMMON_NAME</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Alaska yellow-cedar</a:t>
                      </a:r>
                    </a:p>
                  </a:txBody>
                </a:tc>
                <a:tc>
                  <a:txBody>
                    <a:bodyPr/>
                    <a:lstStyle/>
                    <a:p>
                      <a:pPr lvl="0" indent="0" marL="0">
                        <a:buNone/>
                      </a:pPr>
                      <a:r>
                        <a:rPr/>
                        <a:t>75.11</a:t>
                      </a:r>
                    </a:p>
                  </a:txBody>
                </a:tc>
                <a:tc>
                  <a:txBody>
                    <a:bodyPr/>
                    <a:lstStyle/>
                    <a:p>
                      <a:pPr lvl="0" indent="0" marL="0">
                        <a:buNone/>
                      </a:pPr>
                      <a:r>
                        <a:rPr/>
                        <a:t>14.19</a:t>
                      </a:r>
                    </a:p>
                  </a:txBody>
                </a:tc>
                <a:tc>
                  <a:txBody>
                    <a:bodyPr/>
                    <a:lstStyle/>
                    <a:p>
                      <a:pPr lvl="0" indent="0" marL="0">
                        <a:buNone/>
                      </a:pPr>
                      <a:r>
                        <a:rPr/>
                        <a:t>1873.10</a:t>
                      </a:r>
                    </a:p>
                  </a:txBody>
                </a:tc>
              </a:tr>
              <a:tr h="0">
                <a:tc>
                  <a:txBody>
                    <a:bodyPr/>
                    <a:lstStyle/>
                    <a:p>
                      <a:pPr lvl="0" indent="0" marL="0">
                        <a:buNone/>
                      </a:pPr>
                      <a:r>
                        <a:rPr/>
                        <a:t>American basswood</a:t>
                      </a:r>
                    </a:p>
                  </a:txBody>
                </a:tc>
                <a:tc>
                  <a:txBody>
                    <a:bodyPr/>
                    <a:lstStyle/>
                    <a:p>
                      <a:pPr lvl="0" indent="0" marL="0">
                        <a:buNone/>
                      </a:pPr>
                      <a:r>
                        <a:rPr/>
                        <a:t>70.87</a:t>
                      </a:r>
                    </a:p>
                  </a:txBody>
                </a:tc>
                <a:tc>
                  <a:txBody>
                    <a:bodyPr/>
                    <a:lstStyle/>
                    <a:p>
                      <a:pPr lvl="0" indent="0" marL="0">
                        <a:buNone/>
                      </a:pPr>
                      <a:r>
                        <a:rPr/>
                        <a:t>11.84</a:t>
                      </a:r>
                    </a:p>
                  </a:txBody>
                </a:tc>
                <a:tc>
                  <a:txBody>
                    <a:bodyPr/>
                    <a:lstStyle/>
                    <a:p>
                      <a:pPr lvl="0" indent="0" marL="0">
                        <a:buNone/>
                      </a:pPr>
                      <a:r>
                        <a:rPr/>
                        <a:t>821.54</a:t>
                      </a:r>
                    </a:p>
                  </a:txBody>
                </a:tc>
              </a:tr>
              <a:tr h="0">
                <a:tc>
                  <a:txBody>
                    <a:bodyPr/>
                    <a:lstStyle/>
                    <a:p>
                      <a:pPr lvl="0" indent="0" marL="0">
                        <a:buNone/>
                      </a:pPr>
                      <a:r>
                        <a:rPr/>
                        <a:t>American beech</a:t>
                      </a:r>
                    </a:p>
                  </a:txBody>
                </a:tc>
                <a:tc>
                  <a:txBody>
                    <a:bodyPr/>
                    <a:lstStyle/>
                    <a:p>
                      <a:pPr lvl="0" indent="0" marL="0">
                        <a:buNone/>
                      </a:pPr>
                      <a:r>
                        <a:rPr/>
                        <a:t>68.84</a:t>
                      </a:r>
                    </a:p>
                  </a:txBody>
                </a:tc>
                <a:tc>
                  <a:txBody>
                    <a:bodyPr/>
                    <a:lstStyle/>
                    <a:p>
                      <a:pPr lvl="0" indent="0" marL="0">
                        <a:buNone/>
                      </a:pPr>
                      <a:r>
                        <a:rPr/>
                        <a:t>13.39</a:t>
                      </a:r>
                    </a:p>
                  </a:txBody>
                </a:tc>
                <a:tc>
                  <a:txBody>
                    <a:bodyPr/>
                    <a:lstStyle/>
                    <a:p>
                      <a:pPr lvl="0" indent="0" marL="0">
                        <a:buNone/>
                      </a:pPr>
                      <a:r>
                        <a:rPr/>
                        <a:t>1867.46</a:t>
                      </a:r>
                    </a:p>
                  </a:txBody>
                </a:tc>
              </a:tr>
              <a:tr h="0">
                <a:tc>
                  <a:txBody>
                    <a:bodyPr/>
                    <a:lstStyle/>
                    <a:p>
                      <a:pPr lvl="0" indent="0" marL="0">
                        <a:buNone/>
                      </a:pPr>
                      <a:r>
                        <a:rPr/>
                        <a:t>American chestnut</a:t>
                      </a:r>
                    </a:p>
                  </a:txBody>
                </a:tc>
                <a:tc>
                  <a:txBody>
                    <a:bodyPr/>
                    <a:lstStyle/>
                    <a:p>
                      <a:pPr lvl="0" indent="0" marL="0">
                        <a:buNone/>
                      </a:pPr>
                      <a:r>
                        <a:rPr/>
                        <a:t>51.01</a:t>
                      </a:r>
                    </a:p>
                  </a:txBody>
                </a:tc>
                <a:tc>
                  <a:txBody>
                    <a:bodyPr/>
                    <a:lstStyle/>
                    <a:p>
                      <a:pPr lvl="0" indent="0" marL="0">
                        <a:buNone/>
                      </a:pPr>
                      <a:r>
                        <a:rPr/>
                        <a:t>7.21</a:t>
                      </a:r>
                    </a:p>
                  </a:txBody>
                </a:tc>
                <a:tc>
                  <a:txBody>
                    <a:bodyPr/>
                    <a:lstStyle/>
                    <a:p>
                      <a:pPr lvl="0" indent="0" marL="0">
                        <a:buNone/>
                      </a:pPr>
                      <a:r>
                        <a:rPr/>
                        <a:t>249.15</a:t>
                      </a:r>
                    </a:p>
                  </a:txBody>
                </a:tc>
              </a:tr>
              <a:tr h="0">
                <a:tc>
                  <a:txBody>
                    <a:bodyPr/>
                    <a:lstStyle/>
                    <a:p>
                      <a:pPr lvl="0" indent="0" marL="0">
                        <a:buNone/>
                      </a:pPr>
                      <a:r>
                        <a:rPr/>
                        <a:t>American elm</a:t>
                      </a:r>
                    </a:p>
                  </a:txBody>
                </a:tc>
                <a:tc>
                  <a:txBody>
                    <a:bodyPr/>
                    <a:lstStyle/>
                    <a:p>
                      <a:pPr lvl="0" indent="0" marL="0">
                        <a:buNone/>
                      </a:pPr>
                      <a:r>
                        <a:rPr/>
                        <a:t>54.26</a:t>
                      </a:r>
                    </a:p>
                  </a:txBody>
                </a:tc>
                <a:tc>
                  <a:txBody>
                    <a:bodyPr/>
                    <a:lstStyle/>
                    <a:p>
                      <a:pPr lvl="0" indent="0" marL="0">
                        <a:buNone/>
                      </a:pPr>
                      <a:r>
                        <a:rPr/>
                        <a:t>9.15</a:t>
                      </a:r>
                    </a:p>
                  </a:txBody>
                </a:tc>
                <a:tc>
                  <a:txBody>
                    <a:bodyPr/>
                    <a:lstStyle/>
                    <a:p>
                      <a:pPr lvl="0" indent="0" marL="0">
                        <a:buNone/>
                      </a:pPr>
                      <a:r>
                        <a:rPr/>
                        <a:t>515.40</a:t>
                      </a:r>
                    </a:p>
                  </a:txBody>
                </a:tc>
              </a:tr>
              <a:tr h="0">
                <a:tc>
                  <a:txBody>
                    <a:bodyPr/>
                    <a:lstStyle/>
                    <a:p>
                      <a:pPr lvl="0" indent="0" marL="0">
                        <a:buNone/>
                      </a:pPr>
                      <a:r>
                        <a:rPr/>
                        <a:t>American holly</a:t>
                      </a:r>
                    </a:p>
                  </a:txBody>
                </a:tc>
                <a:tc>
                  <a:txBody>
                    <a:bodyPr/>
                    <a:lstStyle/>
                    <a:p>
                      <a:pPr lvl="0" indent="0" marL="0">
                        <a:buNone/>
                      </a:pPr>
                      <a:r>
                        <a:rPr/>
                        <a:t>31.10</a:t>
                      </a:r>
                    </a:p>
                  </a:txBody>
                </a:tc>
                <a:tc>
                  <a:txBody>
                    <a:bodyPr/>
                    <a:lstStyle/>
                    <a:p>
                      <a:pPr lvl="0" indent="0" marL="0">
                        <a:buNone/>
                      </a:pPr>
                      <a:r>
                        <a:rPr/>
                        <a:t>6.09</a:t>
                      </a:r>
                    </a:p>
                  </a:txBody>
                </a:tc>
                <a:tc>
                  <a:txBody>
                    <a:bodyPr/>
                    <a:lstStyle/>
                    <a:p>
                      <a:pPr lvl="0" indent="0" marL="0">
                        <a:buNone/>
                      </a:pPr>
                      <a:r>
                        <a:rPr/>
                        <a:t>242.32</a:t>
                      </a:r>
                    </a:p>
                  </a:txBody>
                </a:tc>
              </a:tr>
              <a:tr h="0">
                <a:tc>
                  <a:txBody>
                    <a:bodyPr/>
                    <a:lstStyle/>
                    <a:p>
                      <a:pPr lvl="0" indent="0" marL="0">
                        <a:buNone/>
                      </a:pPr>
                      <a:r>
                        <a:rPr/>
                        <a:t>American hornbeam, musclewood</a:t>
                      </a:r>
                    </a:p>
                  </a:txBody>
                </a:tc>
                <a:tc>
                  <a:txBody>
                    <a:bodyPr/>
                    <a:lstStyle/>
                    <a:p>
                      <a:pPr lvl="0" indent="0" marL="0">
                        <a:buNone/>
                      </a:pPr>
                      <a:r>
                        <a:rPr/>
                        <a:t>31.87</a:t>
                      </a:r>
                    </a:p>
                  </a:txBody>
                </a:tc>
                <a:tc>
                  <a:txBody>
                    <a:bodyPr/>
                    <a:lstStyle/>
                    <a:p>
                      <a:pPr lvl="0" indent="0" marL="0">
                        <a:buNone/>
                      </a:pPr>
                      <a:r>
                        <a:rPr/>
                        <a:t>2.82</a:t>
                      </a:r>
                    </a:p>
                  </a:txBody>
                </a:tc>
                <a:tc>
                  <a:txBody>
                    <a:bodyPr/>
                    <a:lstStyle/>
                    <a:p>
                      <a:pPr lvl="0" indent="0" marL="0">
                        <a:buNone/>
                      </a:pPr>
                      <a:r>
                        <a:rPr/>
                        <a:t>40.72</a:t>
                      </a:r>
                    </a:p>
                  </a:txBody>
                </a:tc>
              </a:tr>
              <a:tr h="0">
                <a:tc>
                  <a:txBody>
                    <a:bodyPr/>
                    <a:lstStyle/>
                    <a:p>
                      <a:pPr lvl="0" indent="0" marL="0">
                        <a:buNone/>
                      </a:pPr>
                      <a:r>
                        <a:rPr/>
                        <a:t>American mountain-ash</a:t>
                      </a:r>
                    </a:p>
                  </a:txBody>
                </a:tc>
                <a:tc>
                  <a:txBody>
                    <a:bodyPr/>
                    <a:lstStyle/>
                    <a:p>
                      <a:pPr lvl="0" indent="0" marL="0">
                        <a:buNone/>
                      </a:pPr>
                      <a:r>
                        <a:rPr/>
                        <a:t>32.59</a:t>
                      </a:r>
                    </a:p>
                  </a:txBody>
                </a:tc>
                <a:tc>
                  <a:txBody>
                    <a:bodyPr/>
                    <a:lstStyle/>
                    <a:p>
                      <a:pPr lvl="0" indent="0" marL="0">
                        <a:buNone/>
                      </a:pPr>
                      <a:r>
                        <a:rPr/>
                        <a:t>5.53</a:t>
                      </a:r>
                    </a:p>
                  </a:txBody>
                </a:tc>
                <a:tc>
                  <a:txBody>
                    <a:bodyPr/>
                    <a:lstStyle/>
                    <a:p>
                      <a:pPr lvl="0" indent="0" marL="0">
                        <a:buNone/>
                      </a:pPr>
                      <a:r>
                        <a:rPr/>
                        <a:t>114.80</a:t>
                      </a:r>
                    </a:p>
                  </a:txBody>
                </a:tc>
              </a:tr>
              <a:tr h="0">
                <a:tc>
                  <a:txBody>
                    <a:bodyPr/>
                    <a:lstStyle/>
                    <a:p>
                      <a:pPr lvl="0" indent="0" marL="0">
                        <a:buNone/>
                      </a:pPr>
                      <a:r>
                        <a:rPr/>
                        <a:t>American sycamore</a:t>
                      </a:r>
                    </a:p>
                  </a:txBody>
                </a:tc>
                <a:tc>
                  <a:txBody>
                    <a:bodyPr/>
                    <a:lstStyle/>
                    <a:p>
                      <a:pPr lvl="0" indent="0" marL="0">
                        <a:buNone/>
                      </a:pPr>
                      <a:r>
                        <a:rPr/>
                        <a:t>77.29</a:t>
                      </a:r>
                    </a:p>
                  </a:txBody>
                </a:tc>
                <a:tc>
                  <a:txBody>
                    <a:bodyPr/>
                    <a:lstStyle/>
                    <a:p>
                      <a:pPr lvl="0" indent="0" marL="0">
                        <a:buNone/>
                      </a:pPr>
                      <a:r>
                        <a:rPr/>
                        <a:t>13.40</a:t>
                      </a:r>
                    </a:p>
                  </a:txBody>
                </a:tc>
                <a:tc>
                  <a:txBody>
                    <a:bodyPr/>
                    <a:lstStyle/>
                    <a:p>
                      <a:pPr lvl="0" indent="0" marL="0">
                        <a:buNone/>
                      </a:pPr>
                      <a:r>
                        <a:rPr/>
                        <a:t>1383.72</a:t>
                      </a:r>
                    </a:p>
                  </a:txBody>
                </a:tc>
              </a:tr>
              <a:tr h="0">
                <a:tc>
                  <a:txBody>
                    <a:bodyPr/>
                    <a:lstStyle/>
                    <a:p>
                      <a:pPr lvl="0" indent="0" marL="0">
                        <a:buNone/>
                      </a:pPr>
                      <a:r>
                        <a:rPr/>
                        <a:t>Atlantic white-cedar</a:t>
                      </a:r>
                    </a:p>
                  </a:txBody>
                </a:tc>
                <a:tc>
                  <a:txBody>
                    <a:bodyPr/>
                    <a:lstStyle/>
                    <a:p>
                      <a:pPr lvl="0" indent="0" marL="0">
                        <a:buNone/>
                      </a:pPr>
                      <a:r>
                        <a:rPr/>
                        <a:t>51.62</a:t>
                      </a:r>
                    </a:p>
                  </a:txBody>
                </a:tc>
                <a:tc>
                  <a:txBody>
                    <a:bodyPr/>
                    <a:lstStyle/>
                    <a:p>
                      <a:pPr lvl="0" indent="0" marL="0">
                        <a:buNone/>
                      </a:pPr>
                      <a:r>
                        <a:rPr/>
                        <a:t>8.90</a:t>
                      </a:r>
                    </a:p>
                  </a:txBody>
                </a:tc>
                <a:tc>
                  <a:txBody>
                    <a:bodyPr/>
                    <a:lstStyle/>
                    <a:p>
                      <a:pPr lvl="0" indent="0" marL="0">
                        <a:buNone/>
                      </a:pPr>
                      <a:r>
                        <a:rPr/>
                        <a:t>352.23</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Bivariate Visualizations</a:t>
            </a:r>
          </a:p>
        </p:txBody>
      </p:sp>
      <p:pic>
        <p:nvPicPr>
          <p:cNvPr descr="presentation_files/figure-pptx/cell-6-output-1.png" id="0" name="Picture 1"/>
          <p:cNvPicPr>
            <a:picLocks noGrp="1" noChangeAspect="1"/>
          </p:cNvPicPr>
          <p:nvPr/>
        </p:nvPicPr>
        <p:blipFill>
          <a:blip r:embed="rId2"/>
          <a:stretch>
            <a:fillRect/>
          </a:stretch>
        </p:blipFill>
        <p:spPr bwMode="auto">
          <a:xfrm>
            <a:off x="1397000" y="1193800"/>
            <a:ext cx="63500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Visualizations</a:t>
            </a:r>
          </a:p>
        </p:txBody>
      </p:sp>
      <p:pic>
        <p:nvPicPr>
          <p:cNvPr descr="presentation_files/figure-pptx/cell-7-output-1.png" id="0" name="Picture 1"/>
          <p:cNvPicPr>
            <a:picLocks noGrp="1" noChangeAspect="1"/>
          </p:cNvPicPr>
          <p:nvPr/>
        </p:nvPicPr>
        <p:blipFill>
          <a:blip r:embed="rId2"/>
          <a:stretch>
            <a:fillRect/>
          </a:stretch>
        </p:blipFill>
        <p:spPr bwMode="auto">
          <a:xfrm>
            <a:off x="1155700" y="1193800"/>
            <a:ext cx="6832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Visualization Containing all 4 Variables</a:t>
            </a:r>
          </a:p>
        </p:txBody>
      </p:sp>
      <p:pic>
        <p:nvPicPr>
          <p:cNvPr descr="presentation_files/figure-pptx/cell-8-output-1.png" id="0" name="Picture 1"/>
          <p:cNvPicPr>
            <a:picLocks noGrp="1" noChangeAspect="1"/>
          </p:cNvPicPr>
          <p:nvPr/>
        </p:nvPicPr>
        <p:blipFill>
          <a:blip r:embed="rId2"/>
          <a:stretch>
            <a:fillRect/>
          </a:stretch>
        </p:blipFill>
        <p:spPr bwMode="auto">
          <a:xfrm>
            <a:off x="1435100" y="1193800"/>
            <a:ext cx="62738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Domain Information</a:t>
            </a:r>
          </a:p>
        </p:txBody>
      </p:sp>
      <p:sp>
        <p:nvSpPr>
          <p:cNvPr id="3" name="Content Placeholder 2"/>
          <p:cNvSpPr>
            <a:spLocks noGrp="1"/>
          </p:cNvSpPr>
          <p:nvPr>
            <p:ph idx="1"/>
          </p:nvPr>
        </p:nvSpPr>
        <p:spPr/>
        <p:txBody>
          <a:bodyPr/>
          <a:lstStyle/>
          <a:p>
            <a:pPr lvl="0" indent="0" marL="0">
              <a:spcBef>
                <a:spcPts val="3000"/>
              </a:spcBef>
              <a:buNone/>
            </a:pPr>
            <a:r>
              <a:rPr b="1"/>
              <a:t>Model Inputs &amp; Domains:</a:t>
            </a:r>
          </a:p>
          <a:p>
            <a:pPr lvl="0"/>
            <a:r>
              <a:rPr b="1"/>
              <a:t>SPCD:</a:t>
            </a:r>
            <a:r>
              <a:rPr/>
              <a:t> FIA species code (categorical). Only includes species in the full dataset with a count greater than 100.</a:t>
            </a:r>
          </a:p>
          <a:p>
            <a:pPr lvl="0"/>
            <a:r>
              <a:rPr b="1"/>
              <a:t>DO_BH:</a:t>
            </a:r>
            <a:r>
              <a:rPr/>
              <a:t> Diameter, measured in </a:t>
            </a:r>
            <a:r>
              <a:rPr b="1"/>
              <a:t>inches</a:t>
            </a:r>
            <a:r>
              <a:rPr/>
              <a:t>. Valid Range: 1.0-255.9 inches (based on training data min and max)</a:t>
            </a:r>
          </a:p>
          <a:p>
            <a:pPr lvl="0"/>
            <a:r>
              <a:rPr b="1"/>
              <a:t>HT_TOT:</a:t>
            </a:r>
            <a:r>
              <a:rPr/>
              <a:t> Height, measured in </a:t>
            </a:r>
            <a:r>
              <a:rPr b="1"/>
              <a:t>feet</a:t>
            </a:r>
            <a:r>
              <a:rPr/>
              <a:t>. Valid Range: 2.5-370.5 feet</a:t>
            </a:r>
          </a:p>
          <a:p>
            <a:pPr lvl="0" indent="0" marL="0">
              <a:spcBef>
                <a:spcPts val="3000"/>
              </a:spcBef>
              <a:buNone/>
            </a:pPr>
            <a:r>
              <a:rPr b="1"/>
              <a:t>Output:</a:t>
            </a:r>
          </a:p>
          <a:p>
            <a:pPr lvl="0"/>
            <a:r>
              <a:rPr b="1"/>
              <a:t>TT_DW_CRM</a:t>
            </a:r>
            <a:r>
              <a:rPr/>
              <a:t>: Total above-ground dry biomass in </a:t>
            </a:r>
            <a:r>
              <a:rPr b="1"/>
              <a:t>kilograms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Limitations:</a:t>
            </a:r>
          </a:p>
        </p:txBody>
      </p:sp>
      <p:sp>
        <p:nvSpPr>
          <p:cNvPr id="3" name="Content Placeholder 2"/>
          <p:cNvSpPr>
            <a:spLocks noGrp="1"/>
          </p:cNvSpPr>
          <p:nvPr>
            <p:ph idx="1"/>
          </p:nvPr>
        </p:nvSpPr>
        <p:spPr/>
        <p:txBody>
          <a:bodyPr/>
          <a:lstStyle/>
          <a:p>
            <a:pPr lvl="0"/>
            <a:r>
              <a:rPr b="1"/>
              <a:t>Species limitations</a:t>
            </a:r>
            <a:r>
              <a:rPr/>
              <a:t>: Model won’t work for less frequent species or species that don’t appear at all in the dataset</a:t>
            </a:r>
          </a:p>
          <a:p>
            <a:pPr lvl="0"/>
            <a:r>
              <a:rPr b="1"/>
              <a:t>Effectiveness varies based on species</a:t>
            </a:r>
            <a:r>
              <a:rPr/>
              <a:t>: Some species it performs well on others it performs poorly on: RMSLE of 0.0234800 for loblolly pine vs RMSLE of 0.713023 for pecan</a:t>
            </a:r>
          </a:p>
          <a:p>
            <a:pPr lvl="0"/>
            <a:r>
              <a:rPr b="1"/>
              <a:t>k=3</a:t>
            </a:r>
            <a:r>
              <a:rPr/>
              <a:t>: Lower k value may lead to overfitting of data due to potential outliers and noise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Performance Metric</a:t>
            </a:r>
          </a:p>
        </p:txBody>
      </p:sp>
      <p:sp>
        <p:nvSpPr>
          <p:cNvPr id="3" name="Content Placeholder 2"/>
          <p:cNvSpPr>
            <a:spLocks noGrp="1"/>
          </p:cNvSpPr>
          <p:nvPr>
            <p:ph idx="1"/>
          </p:nvPr>
        </p:nvSpPr>
        <p:spPr/>
        <p:txBody>
          <a:bodyPr/>
          <a:lstStyle/>
          <a:p>
            <a:pPr lvl="0" indent="0" marL="0">
              <a:buNone/>
            </a:pPr>
            <a:r>
              <a:rPr/>
              <a:t>The Performance metric we choose is Root Mean Square Logarithmic Error(RMSLE), because when we were looking at the dataset of the biomass of different kinds of tree species, we saw that some species have more data than other species so the assume that the data is skewed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endParaRPr/>
                    </a:p>
                  </a:txBody>
                  <a:tcPr/>
                </a:tc>
                <a:tc>
                  <a:txBody>
                    <a:bodyPr/>
                    <a:lstStyle/>
                    <a:p>
                      <a:pPr lvl="0" indent="0" marL="0">
                        <a:buNone/>
                      </a:pPr>
                      <a:r>
                        <a:rPr/>
                        <a:t>Species</a:t>
                      </a:r>
                    </a:p>
                  </a:txBody>
                  <a:tcPr/>
                </a:tc>
                <a:tc>
                  <a:txBody>
                    <a:bodyPr/>
                    <a:lstStyle/>
                    <a:p>
                      <a:pPr lvl="0" indent="0" marL="0">
                        <a:buNone/>
                      </a:pPr>
                      <a:r>
                        <a:rPr/>
                        <a:t>k</a:t>
                      </a:r>
                    </a:p>
                  </a:txBody>
                  <a:tcPr/>
                </a:tc>
                <a:tc>
                  <a:txBody>
                    <a:bodyPr/>
                    <a:lstStyle/>
                    <a:p>
                      <a:pPr lvl="0" indent="0" marL="0">
                        <a:buNone/>
                      </a:pPr>
                      <a:r>
                        <a:rPr/>
                        <a:t>RMSE</a:t>
                      </a:r>
                    </a:p>
                  </a:txBody>
                  <a:tcPr/>
                </a:tc>
                <a:tc>
                  <a:txBody>
                    <a:bodyPr/>
                    <a:lstStyle/>
                    <a:p>
                      <a:pPr lvl="0" indent="0" marL="0">
                        <a:buNone/>
                      </a:pPr>
                      <a:r>
                        <a:rPr/>
                        <a:t>MAE</a:t>
                      </a:r>
                    </a:p>
                  </a:txBody>
                  <a:tcPr/>
                </a:tc>
                <a:tc>
                  <a:txBody>
                    <a:bodyPr/>
                    <a:lstStyle/>
                    <a:p>
                      <a:pPr lvl="0" indent="0" marL="0">
                        <a:buNone/>
                      </a:pPr>
                      <a:r>
                        <a:rPr/>
                        <a:t>RMSLE</a:t>
                      </a:r>
                    </a:p>
                  </a:txBody>
                  <a:tcPr/>
                </a:tc>
              </a:tr>
              <a:tr h="0">
                <a:tc>
                  <a:txBody>
                    <a:bodyPr/>
                    <a:lstStyle/>
                    <a:p>
                      <a:pPr lvl="0" indent="0" marL="0">
                        <a:buNone/>
                      </a:pPr>
                      <a:r>
                        <a:rPr/>
                        <a:t>0</a:t>
                      </a:r>
                    </a:p>
                  </a:txBody>
                </a:tc>
                <a:tc>
                  <a:txBody>
                    <a:bodyPr/>
                    <a:lstStyle/>
                    <a:p>
                      <a:pPr lvl="0" indent="0" marL="0">
                        <a:buNone/>
                      </a:pPr>
                      <a:r>
                        <a:rPr/>
                        <a:t>balsam fir</a:t>
                      </a:r>
                    </a:p>
                  </a:txBody>
                </a:tc>
                <a:tc>
                  <a:txBody>
                    <a:bodyPr/>
                    <a:lstStyle/>
                    <a:p>
                      <a:pPr lvl="0" indent="0" marL="0">
                        <a:buNone/>
                      </a:pPr>
                      <a:r>
                        <a:rPr/>
                        <a:t>2</a:t>
                      </a:r>
                    </a:p>
                  </a:txBody>
                </a:tc>
                <a:tc>
                  <a:txBody>
                    <a:bodyPr/>
                    <a:lstStyle/>
                    <a:p>
                      <a:pPr lvl="0" indent="0" marL="0">
                        <a:buNone/>
                      </a:pPr>
                      <a:r>
                        <a:rPr/>
                        <a:t>125.825473</a:t>
                      </a:r>
                    </a:p>
                  </a:txBody>
                </a:tc>
                <a:tc>
                  <a:txBody>
                    <a:bodyPr/>
                    <a:lstStyle/>
                    <a:p>
                      <a:pPr lvl="0" indent="0" marL="0">
                        <a:buNone/>
                      </a:pPr>
                      <a:r>
                        <a:rPr/>
                        <a:t>34.801913</a:t>
                      </a:r>
                    </a:p>
                  </a:txBody>
                </a:tc>
                <a:tc>
                  <a:txBody>
                    <a:bodyPr/>
                    <a:lstStyle/>
                    <a:p>
                      <a:pPr lvl="0" indent="0" marL="0">
                        <a:buNone/>
                      </a:pPr>
                      <a:r>
                        <a:rPr/>
                        <a:t>0.119574</a:t>
                      </a:r>
                    </a:p>
                  </a:txBody>
                </a:tc>
              </a:tr>
              <a:tr h="0">
                <a:tc>
                  <a:txBody>
                    <a:bodyPr/>
                    <a:lstStyle/>
                    <a:p>
                      <a:pPr lvl="0" indent="0" marL="0">
                        <a:buNone/>
                      </a:pPr>
                      <a:r>
                        <a:rPr/>
                        <a:t>1</a:t>
                      </a:r>
                    </a:p>
                  </a:txBody>
                </a:tc>
                <a:tc>
                  <a:txBody>
                    <a:bodyPr/>
                    <a:lstStyle/>
                    <a:p>
                      <a:pPr lvl="0" indent="0" marL="0">
                        <a:buNone/>
                      </a:pPr>
                      <a:r>
                        <a:rPr/>
                        <a:t>balsam fir</a:t>
                      </a:r>
                    </a:p>
                  </a:txBody>
                </a:tc>
                <a:tc>
                  <a:txBody>
                    <a:bodyPr/>
                    <a:lstStyle/>
                    <a:p>
                      <a:pPr lvl="0" indent="0" marL="0">
                        <a:buNone/>
                      </a:pPr>
                      <a:r>
                        <a:rPr/>
                        <a:t>3</a:t>
                      </a:r>
                    </a:p>
                  </a:txBody>
                </a:tc>
                <a:tc>
                  <a:txBody>
                    <a:bodyPr/>
                    <a:lstStyle/>
                    <a:p>
                      <a:pPr lvl="0" indent="0" marL="0">
                        <a:buNone/>
                      </a:pPr>
                      <a:r>
                        <a:rPr/>
                        <a:t>129.651479</a:t>
                      </a:r>
                    </a:p>
                  </a:txBody>
                </a:tc>
                <a:tc>
                  <a:txBody>
                    <a:bodyPr/>
                    <a:lstStyle/>
                    <a:p>
                      <a:pPr lvl="0" indent="0" marL="0">
                        <a:buNone/>
                      </a:pPr>
                      <a:r>
                        <a:rPr/>
                        <a:t>36.646493</a:t>
                      </a:r>
                    </a:p>
                  </a:txBody>
                </a:tc>
                <a:tc>
                  <a:txBody>
                    <a:bodyPr/>
                    <a:lstStyle/>
                    <a:p>
                      <a:pPr lvl="0" indent="0" marL="0">
                        <a:buNone/>
                      </a:pPr>
                      <a:r>
                        <a:rPr/>
                        <a:t>0.123724</a:t>
                      </a:r>
                    </a:p>
                  </a:txBody>
                </a:tc>
              </a:tr>
              <a:tr h="0">
                <a:tc>
                  <a:txBody>
                    <a:bodyPr/>
                    <a:lstStyle/>
                    <a:p>
                      <a:pPr lvl="0" indent="0" marL="0">
                        <a:buNone/>
                      </a:pPr>
                      <a:r>
                        <a:rPr/>
                        <a:t>2</a:t>
                      </a:r>
                    </a:p>
                  </a:txBody>
                </a:tc>
                <a:tc>
                  <a:txBody>
                    <a:bodyPr/>
                    <a:lstStyle/>
                    <a:p>
                      <a:pPr lvl="0" indent="0" marL="0">
                        <a:buNone/>
                      </a:pPr>
                      <a:r>
                        <a:rPr/>
                        <a:t>balsam fir</a:t>
                      </a:r>
                    </a:p>
                  </a:txBody>
                </a:tc>
                <a:tc>
                  <a:txBody>
                    <a:bodyPr/>
                    <a:lstStyle/>
                    <a:p>
                      <a:pPr lvl="0" indent="0" marL="0">
                        <a:buNone/>
                      </a:pPr>
                      <a:r>
                        <a:rPr/>
                        <a:t>4</a:t>
                      </a:r>
                    </a:p>
                  </a:txBody>
                </a:tc>
                <a:tc>
                  <a:txBody>
                    <a:bodyPr/>
                    <a:lstStyle/>
                    <a:p>
                      <a:pPr lvl="0" indent="0" marL="0">
                        <a:buNone/>
                      </a:pPr>
                      <a:r>
                        <a:rPr/>
                        <a:t>134.599829</a:t>
                      </a:r>
                    </a:p>
                  </a:txBody>
                </a:tc>
                <a:tc>
                  <a:txBody>
                    <a:bodyPr/>
                    <a:lstStyle/>
                    <a:p>
                      <a:pPr lvl="0" indent="0" marL="0">
                        <a:buNone/>
                      </a:pPr>
                      <a:r>
                        <a:rPr/>
                        <a:t>38.884870</a:t>
                      </a:r>
                    </a:p>
                  </a:txBody>
                </a:tc>
                <a:tc>
                  <a:txBody>
                    <a:bodyPr/>
                    <a:lstStyle/>
                    <a:p>
                      <a:pPr lvl="0" indent="0" marL="0">
                        <a:buNone/>
                      </a:pPr>
                      <a:r>
                        <a:rPr/>
                        <a:t>0.133858</a:t>
                      </a:r>
                    </a:p>
                  </a:txBody>
                </a:tc>
              </a:tr>
              <a:tr h="0">
                <a:tc>
                  <a:txBody>
                    <a:bodyPr/>
                    <a:lstStyle/>
                    <a:p>
                      <a:pPr lvl="0" indent="0" marL="0">
                        <a:buNone/>
                      </a:pPr>
                      <a:r>
                        <a:rPr/>
                        <a:t>3</a:t>
                      </a:r>
                    </a:p>
                  </a:txBody>
                </a:tc>
                <a:tc>
                  <a:txBody>
                    <a:bodyPr/>
                    <a:lstStyle/>
                    <a:p>
                      <a:pPr lvl="0" indent="0" marL="0">
                        <a:buNone/>
                      </a:pPr>
                      <a:r>
                        <a:rPr/>
                        <a:t>balsam fir</a:t>
                      </a:r>
                    </a:p>
                  </a:txBody>
                </a:tc>
                <a:tc>
                  <a:txBody>
                    <a:bodyPr/>
                    <a:lstStyle/>
                    <a:p>
                      <a:pPr lvl="0" indent="0" marL="0">
                        <a:buNone/>
                      </a:pPr>
                      <a:r>
                        <a:rPr/>
                        <a:t>5</a:t>
                      </a:r>
                    </a:p>
                  </a:txBody>
                </a:tc>
                <a:tc>
                  <a:txBody>
                    <a:bodyPr/>
                    <a:lstStyle/>
                    <a:p>
                      <a:pPr lvl="0" indent="0" marL="0">
                        <a:buNone/>
                      </a:pPr>
                      <a:r>
                        <a:rPr/>
                        <a:t>145.003601</a:t>
                      </a:r>
                    </a:p>
                  </a:txBody>
                </a:tc>
                <a:tc>
                  <a:txBody>
                    <a:bodyPr/>
                    <a:lstStyle/>
                    <a:p>
                      <a:pPr lvl="0" indent="0" marL="0">
                        <a:buNone/>
                      </a:pPr>
                      <a:r>
                        <a:rPr/>
                        <a:t>41.209530</a:t>
                      </a:r>
                    </a:p>
                  </a:txBody>
                </a:tc>
                <a:tc>
                  <a:txBody>
                    <a:bodyPr/>
                    <a:lstStyle/>
                    <a:p>
                      <a:pPr lvl="0" indent="0" marL="0">
                        <a:buNone/>
                      </a:pPr>
                      <a:r>
                        <a:rPr/>
                        <a:t>0.144063</a:t>
                      </a:r>
                    </a:p>
                  </a:txBody>
                </a:tc>
              </a:tr>
              <a:tr h="0">
                <a:tc>
                  <a:txBody>
                    <a:bodyPr/>
                    <a:lstStyle/>
                    <a:p>
                      <a:pPr lvl="0" indent="0" marL="0">
                        <a:buNone/>
                      </a:pPr>
                      <a:r>
                        <a:rPr/>
                        <a:t>4</a:t>
                      </a:r>
                    </a:p>
                  </a:txBody>
                </a:tc>
                <a:tc>
                  <a:txBody>
                    <a:bodyPr/>
                    <a:lstStyle/>
                    <a:p>
                      <a:pPr lvl="0" indent="0" marL="0">
                        <a:buNone/>
                      </a:pPr>
                      <a:r>
                        <a:rPr/>
                        <a:t>balsam fir</a:t>
                      </a:r>
                    </a:p>
                  </a:txBody>
                </a:tc>
                <a:tc>
                  <a:txBody>
                    <a:bodyPr/>
                    <a:lstStyle/>
                    <a:p>
                      <a:pPr lvl="0" indent="0" marL="0">
                        <a:buNone/>
                      </a:pPr>
                      <a:r>
                        <a:rPr/>
                        <a:t>6</a:t>
                      </a:r>
                    </a:p>
                  </a:txBody>
                </a:tc>
                <a:tc>
                  <a:txBody>
                    <a:bodyPr/>
                    <a:lstStyle/>
                    <a:p>
                      <a:pPr lvl="0" indent="0" marL="0">
                        <a:buNone/>
                      </a:pPr>
                      <a:r>
                        <a:rPr/>
                        <a:t>147.451321</a:t>
                      </a:r>
                    </a:p>
                  </a:txBody>
                </a:tc>
                <a:tc>
                  <a:txBody>
                    <a:bodyPr/>
                    <a:lstStyle/>
                    <a:p>
                      <a:pPr lvl="0" indent="0" marL="0">
                        <a:buNone/>
                      </a:pPr>
                      <a:r>
                        <a:rPr/>
                        <a:t>40.791681</a:t>
                      </a:r>
                    </a:p>
                  </a:txBody>
                </a:tc>
                <a:tc>
                  <a:txBody>
                    <a:bodyPr/>
                    <a:lstStyle/>
                    <a:p>
                      <a:pPr lvl="0" indent="0" marL="0">
                        <a:buNone/>
                      </a:pPr>
                      <a:r>
                        <a:rPr/>
                        <a:t>0.142862</a:t>
                      </a:r>
                    </a:p>
                  </a:txBody>
                </a:tc>
              </a:tr>
              <a:tr h="0">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r>
              <a:tr h="0">
                <a:tc>
                  <a:txBody>
                    <a:bodyPr/>
                    <a:lstStyle/>
                    <a:p>
                      <a:pPr lvl="0" indent="0" marL="0">
                        <a:buNone/>
                      </a:pPr>
                      <a:r>
                        <a:rPr/>
                        <a:t>895</a:t>
                      </a:r>
                    </a:p>
                  </a:txBody>
                </a:tc>
                <a:tc>
                  <a:txBody>
                    <a:bodyPr/>
                    <a:lstStyle/>
                    <a:p>
                      <a:pPr lvl="0" indent="0" marL="0">
                        <a:buNone/>
                      </a:pPr>
                      <a:r>
                        <a:rPr/>
                        <a:t>sugarberry</a:t>
                      </a:r>
                    </a:p>
                  </a:txBody>
                </a:tc>
                <a:tc>
                  <a:txBody>
                    <a:bodyPr/>
                    <a:lstStyle/>
                    <a:p>
                      <a:pPr lvl="0" indent="0" marL="0">
                        <a:buNone/>
                      </a:pPr>
                      <a:r>
                        <a:rPr/>
                        <a:t>6</a:t>
                      </a:r>
                    </a:p>
                  </a:txBody>
                </a:tc>
                <a:tc>
                  <a:txBody>
                    <a:bodyPr/>
                    <a:lstStyle/>
                    <a:p>
                      <a:pPr lvl="0" indent="0" marL="0">
                        <a:buNone/>
                      </a:pPr>
                      <a:r>
                        <a:rPr/>
                        <a:t>32.431052</a:t>
                      </a:r>
                    </a:p>
                  </a:txBody>
                </a:tc>
                <a:tc>
                  <a:txBody>
                    <a:bodyPr/>
                    <a:lstStyle/>
                    <a:p>
                      <a:pPr lvl="0" indent="0" marL="0">
                        <a:buNone/>
                      </a:pPr>
                      <a:r>
                        <a:rPr/>
                        <a:t>20.969306</a:t>
                      </a:r>
                    </a:p>
                  </a:txBody>
                </a:tc>
                <a:tc>
                  <a:txBody>
                    <a:bodyPr/>
                    <a:lstStyle/>
                    <a:p>
                      <a:pPr lvl="0" indent="0" marL="0">
                        <a:buNone/>
                      </a:pPr>
                      <a:r>
                        <a:rPr/>
                        <a:t>0.565727</a:t>
                      </a:r>
                    </a:p>
                  </a:txBody>
                </a:tc>
              </a:tr>
              <a:tr h="0">
                <a:tc>
                  <a:txBody>
                    <a:bodyPr/>
                    <a:lstStyle/>
                    <a:p>
                      <a:pPr lvl="0" indent="0" marL="0">
                        <a:buNone/>
                      </a:pPr>
                      <a:r>
                        <a:rPr/>
                        <a:t>896</a:t>
                      </a:r>
                    </a:p>
                  </a:txBody>
                </a:tc>
                <a:tc>
                  <a:txBody>
                    <a:bodyPr/>
                    <a:lstStyle/>
                    <a:p>
                      <a:pPr lvl="0" indent="0" marL="0">
                        <a:buNone/>
                      </a:pPr>
                      <a:r>
                        <a:rPr/>
                        <a:t>sugarberry</a:t>
                      </a:r>
                    </a:p>
                  </a:txBody>
                </a:tc>
                <a:tc>
                  <a:txBody>
                    <a:bodyPr/>
                    <a:lstStyle/>
                    <a:p>
                      <a:pPr lvl="0" indent="0" marL="0">
                        <a:buNone/>
                      </a:pPr>
                      <a:r>
                        <a:rPr/>
                        <a:t>7</a:t>
                      </a:r>
                    </a:p>
                  </a:txBody>
                </a:tc>
                <a:tc>
                  <a:txBody>
                    <a:bodyPr/>
                    <a:lstStyle/>
                    <a:p>
                      <a:pPr lvl="0" indent="0" marL="0">
                        <a:buNone/>
                      </a:pPr>
                      <a:r>
                        <a:rPr/>
                        <a:t>37.324259</a:t>
                      </a:r>
                    </a:p>
                  </a:txBody>
                </a:tc>
                <a:tc>
                  <a:txBody>
                    <a:bodyPr/>
                    <a:lstStyle/>
                    <a:p>
                      <a:pPr lvl="0" indent="0" marL="0">
                        <a:buNone/>
                      </a:pPr>
                      <a:r>
                        <a:rPr/>
                        <a:t>25.037024</a:t>
                      </a:r>
                    </a:p>
                  </a:txBody>
                </a:tc>
                <a:tc>
                  <a:txBody>
                    <a:bodyPr/>
                    <a:lstStyle/>
                    <a:p>
                      <a:pPr lvl="0" indent="0" marL="0">
                        <a:buNone/>
                      </a:pPr>
                      <a:r>
                        <a:rPr/>
                        <a:t>0.637629</a:t>
                      </a:r>
                    </a:p>
                  </a:txBody>
                </a:tc>
              </a:tr>
              <a:tr h="0">
                <a:tc>
                  <a:txBody>
                    <a:bodyPr/>
                    <a:lstStyle/>
                    <a:p>
                      <a:pPr lvl="0" indent="0" marL="0">
                        <a:buNone/>
                      </a:pPr>
                      <a:r>
                        <a:rPr/>
                        <a:t>897</a:t>
                      </a:r>
                    </a:p>
                  </a:txBody>
                </a:tc>
                <a:tc>
                  <a:txBody>
                    <a:bodyPr/>
                    <a:lstStyle/>
                    <a:p>
                      <a:pPr lvl="0" indent="0" marL="0">
                        <a:buNone/>
                      </a:pPr>
                      <a:r>
                        <a:rPr/>
                        <a:t>sugarberry</a:t>
                      </a:r>
                    </a:p>
                  </a:txBody>
                </a:tc>
                <a:tc>
                  <a:txBody>
                    <a:bodyPr/>
                    <a:lstStyle/>
                    <a:p>
                      <a:pPr lvl="0" indent="0" marL="0">
                        <a:buNone/>
                      </a:pPr>
                      <a:r>
                        <a:rPr/>
                        <a:t>8</a:t>
                      </a:r>
                    </a:p>
                  </a:txBody>
                </a:tc>
                <a:tc>
                  <a:txBody>
                    <a:bodyPr/>
                    <a:lstStyle/>
                    <a:p>
                      <a:pPr lvl="0" indent="0" marL="0">
                        <a:buNone/>
                      </a:pPr>
                      <a:r>
                        <a:rPr/>
                        <a:t>38.144756</a:t>
                      </a:r>
                    </a:p>
                  </a:txBody>
                </a:tc>
                <a:tc>
                  <a:txBody>
                    <a:bodyPr/>
                    <a:lstStyle/>
                    <a:p>
                      <a:pPr lvl="0" indent="0" marL="0">
                        <a:buNone/>
                      </a:pPr>
                      <a:r>
                        <a:rPr/>
                        <a:t>26.680208</a:t>
                      </a:r>
                    </a:p>
                  </a:txBody>
                </a:tc>
                <a:tc>
                  <a:txBody>
                    <a:bodyPr/>
                    <a:lstStyle/>
                    <a:p>
                      <a:pPr lvl="0" indent="0" marL="0">
                        <a:buNone/>
                      </a:pPr>
                      <a:r>
                        <a:rPr/>
                        <a:t>0.665159</a:t>
                      </a:r>
                    </a:p>
                  </a:txBody>
                </a:tc>
              </a:tr>
              <a:tr h="0">
                <a:tc>
                  <a:txBody>
                    <a:bodyPr/>
                    <a:lstStyle/>
                    <a:p>
                      <a:pPr lvl="0" indent="0" marL="0">
                        <a:buNone/>
                      </a:pPr>
                      <a:r>
                        <a:rPr/>
                        <a:t>898</a:t>
                      </a:r>
                    </a:p>
                  </a:txBody>
                </a:tc>
                <a:tc>
                  <a:txBody>
                    <a:bodyPr/>
                    <a:lstStyle/>
                    <a:p>
                      <a:pPr lvl="0" indent="0" marL="0">
                        <a:buNone/>
                      </a:pPr>
                      <a:r>
                        <a:rPr/>
                        <a:t>sugarberry</a:t>
                      </a:r>
                    </a:p>
                  </a:txBody>
                </a:tc>
                <a:tc>
                  <a:txBody>
                    <a:bodyPr/>
                    <a:lstStyle/>
                    <a:p>
                      <a:pPr lvl="0" indent="0" marL="0">
                        <a:buNone/>
                      </a:pPr>
                      <a:r>
                        <a:rPr/>
                        <a:t>9</a:t>
                      </a:r>
                    </a:p>
                  </a:txBody>
                </a:tc>
                <a:tc>
                  <a:txBody>
                    <a:bodyPr/>
                    <a:lstStyle/>
                    <a:p>
                      <a:pPr lvl="0" indent="0" marL="0">
                        <a:buNone/>
                      </a:pPr>
                      <a:r>
                        <a:rPr/>
                        <a:t>36.853245</a:t>
                      </a:r>
                    </a:p>
                  </a:txBody>
                </a:tc>
                <a:tc>
                  <a:txBody>
                    <a:bodyPr/>
                    <a:lstStyle/>
                    <a:p>
                      <a:pPr lvl="0" indent="0" marL="0">
                        <a:buNone/>
                      </a:pPr>
                      <a:r>
                        <a:rPr/>
                        <a:t>21.021667</a:t>
                      </a:r>
                    </a:p>
                  </a:txBody>
                </a:tc>
                <a:tc>
                  <a:txBody>
                    <a:bodyPr/>
                    <a:lstStyle/>
                    <a:p>
                      <a:pPr lvl="0" indent="0" marL="0">
                        <a:buNone/>
                      </a:pPr>
                      <a:r>
                        <a:rPr/>
                        <a:t>0.685162</a:t>
                      </a:r>
                    </a:p>
                  </a:txBody>
                </a:tc>
              </a:tr>
              <a:tr h="0">
                <a:tc>
                  <a:txBody>
                    <a:bodyPr/>
                    <a:lstStyle/>
                    <a:p>
                      <a:pPr lvl="0" indent="0" marL="0">
                        <a:buNone/>
                      </a:pPr>
                      <a:r>
                        <a:rPr/>
                        <a:t>899</a:t>
                      </a:r>
                    </a:p>
                  </a:txBody>
                </a:tc>
                <a:tc>
                  <a:txBody>
                    <a:bodyPr/>
                    <a:lstStyle/>
                    <a:p>
                      <a:pPr lvl="0" indent="0" marL="0">
                        <a:buNone/>
                      </a:pPr>
                      <a:r>
                        <a:rPr/>
                        <a:t>sugarberry</a:t>
                      </a:r>
                    </a:p>
                  </a:txBody>
                </a:tc>
                <a:tc>
                  <a:txBody>
                    <a:bodyPr/>
                    <a:lstStyle/>
                    <a:p>
                      <a:pPr lvl="0" indent="0" marL="0">
                        <a:buNone/>
                      </a:pPr>
                      <a:r>
                        <a:rPr/>
                        <a:t>10</a:t>
                      </a:r>
                    </a:p>
                  </a:txBody>
                </a:tc>
                <a:tc>
                  <a:txBody>
                    <a:bodyPr/>
                    <a:lstStyle/>
                    <a:p>
                      <a:pPr lvl="0" indent="0" marL="0">
                        <a:buNone/>
                      </a:pPr>
                      <a:r>
                        <a:rPr/>
                        <a:t>40.091106</a:t>
                      </a:r>
                    </a:p>
                  </a:txBody>
                </a:tc>
                <a:tc>
                  <a:txBody>
                    <a:bodyPr/>
                    <a:lstStyle/>
                    <a:p>
                      <a:pPr lvl="0" indent="0" marL="0">
                        <a:buNone/>
                      </a:pPr>
                      <a:r>
                        <a:rPr/>
                        <a:t>23.172083</a:t>
                      </a:r>
                    </a:p>
                  </a:txBody>
                </a:tc>
                <a:tc>
                  <a:txBody>
                    <a:bodyPr/>
                    <a:lstStyle/>
                    <a:p>
                      <a:pPr lvl="0" indent="0" marL="0">
                        <a:buNone/>
                      </a:pPr>
                      <a:r>
                        <a:rPr/>
                        <a:t>0.677519</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Technical Lead</a:t>
            </a:r>
          </a:p>
        </p:txBody>
      </p:sp>
      <p:sp>
        <p:nvSpPr>
          <p:cNvPr id="4" name="Text Placeholder 3"/>
          <p:cNvSpPr>
            <a:spLocks noGrp="1"/>
          </p:cNvSpPr>
          <p:nvPr>
            <p:ph idx="2" sz="half" type="body"/>
          </p:nvPr>
        </p:nvSpPr>
        <p:spPr/>
        <p:txBody>
          <a:bodyPr/>
          <a:lstStyle/>
          <a:p>
            <a:pPr lvl="0"/>
            <a:r>
              <a:rPr/>
              <a:t>Split and filtering methods</a:t>
            </a:r>
          </a:p>
          <a:p>
            <a:pPr lvl="0"/>
            <a:r>
              <a:rPr/>
              <a:t>Feature engineering (what worked and what didn’t)</a:t>
            </a:r>
          </a:p>
          <a:p>
            <a:pPr lvl="0"/>
            <a:r>
              <a:rPr/>
              <a:t>Tuning k for the best model</a:t>
            </a:r>
          </a:p>
          <a:p>
            <a:pPr lvl="0"/>
            <a:r>
              <a:rPr/>
              <a:t>The final “best” model and error # Tree Measurement Data: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r>
              <a:tr h="0">
                <a:tc>
                  <a:txBody>
                    <a:bodyPr/>
                    <a:lstStyle/>
                    <a:p>
                      <a:pPr lvl="0" indent="0" marL="0">
                        <a:buNone/>
                      </a:pPr>
                      <a:r>
                        <a:rPr/>
                        <a:t>0</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45.2</a:t>
                      </a:r>
                    </a:p>
                  </a:txBody>
                </a:tc>
                <a:tc>
                  <a:txBody>
                    <a:bodyPr/>
                    <a:lstStyle/>
                    <a:p>
                      <a:pPr lvl="0" indent="0" marL="0">
                        <a:buNone/>
                      </a:pPr>
                      <a:r>
                        <a:rPr/>
                        <a:t>178.86</a:t>
                      </a:r>
                    </a:p>
                  </a:txBody>
                </a:tc>
              </a:tr>
              <a:tr h="0">
                <a:tc>
                  <a:txBody>
                    <a:bodyPr/>
                    <a:lstStyle/>
                    <a:p>
                      <a:pPr lvl="0" indent="0" marL="0">
                        <a:buNone/>
                      </a:pPr>
                      <a:r>
                        <a:rPr/>
                        <a:t>1</a:t>
                      </a:r>
                    </a:p>
                  </a:txBody>
                </a:tc>
                <a:tc>
                  <a:txBody>
                    <a:bodyPr/>
                    <a:lstStyle/>
                    <a:p>
                      <a:pPr lvl="0" indent="0" marL="0">
                        <a:buNone/>
                      </a:pPr>
                      <a:r>
                        <a:rPr/>
                        <a:t>12</a:t>
                      </a:r>
                    </a:p>
                  </a:txBody>
                </a:tc>
                <a:tc>
                  <a:txBody>
                    <a:bodyPr/>
                    <a:lstStyle/>
                    <a:p>
                      <a:pPr lvl="0" indent="0" marL="0">
                        <a:buNone/>
                      </a:pPr>
                      <a:r>
                        <a:rPr/>
                        <a:t>9.3</a:t>
                      </a:r>
                    </a:p>
                  </a:txBody>
                </a:tc>
                <a:tc>
                  <a:txBody>
                    <a:bodyPr/>
                    <a:lstStyle/>
                    <a:p>
                      <a:pPr lvl="0" indent="0" marL="0">
                        <a:buNone/>
                      </a:pPr>
                      <a:r>
                        <a:rPr/>
                        <a:t>62.7</a:t>
                      </a:r>
                    </a:p>
                  </a:txBody>
                </a:tc>
                <a:tc>
                  <a:txBody>
                    <a:bodyPr/>
                    <a:lstStyle/>
                    <a:p>
                      <a:pPr lvl="0" indent="0" marL="0">
                        <a:buNone/>
                      </a:pPr>
                      <a:r>
                        <a:rPr/>
                        <a:t>323.46</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9.7</a:t>
                      </a:r>
                    </a:p>
                  </a:txBody>
                </a:tc>
                <a:tc>
                  <a:txBody>
                    <a:bodyPr/>
                    <a:lstStyle/>
                    <a:p>
                      <a:pPr lvl="0" indent="0" marL="0">
                        <a:buNone/>
                      </a:pPr>
                      <a:r>
                        <a:rPr/>
                        <a:t>56.7</a:t>
                      </a:r>
                    </a:p>
                  </a:txBody>
                </a:tc>
                <a:tc>
                  <a:txBody>
                    <a:bodyPr/>
                    <a:lstStyle/>
                    <a:p>
                      <a:pPr lvl="0" indent="0" marL="0">
                        <a:buNone/>
                      </a:pPr>
                      <a:r>
                        <a:rPr/>
                        <a:t>342.47</a:t>
                      </a:r>
                    </a:p>
                  </a:txBody>
                </a:tc>
              </a:tr>
              <a:tr h="0">
                <a:tc>
                  <a:txBody>
                    <a:bodyPr/>
                    <a:lstStyle/>
                    <a:p>
                      <a:pPr lvl="0" indent="0" marL="0">
                        <a:buNone/>
                      </a:pPr>
                      <a:r>
                        <a:rPr/>
                        <a:t>3</a:t>
                      </a:r>
                    </a:p>
                  </a:txBody>
                </a:tc>
                <a:tc>
                  <a:txBody>
                    <a:bodyPr/>
                    <a:lstStyle/>
                    <a:p>
                      <a:pPr lvl="0" indent="0" marL="0">
                        <a:buNone/>
                      </a:pPr>
                      <a:r>
                        <a:rPr/>
                        <a:t>12</a:t>
                      </a:r>
                    </a:p>
                  </a:txBody>
                </a:tc>
                <a:tc>
                  <a:txBody>
                    <a:bodyPr/>
                    <a:lstStyle/>
                    <a:p>
                      <a:pPr lvl="0" indent="0" marL="0">
                        <a:buNone/>
                      </a:pPr>
                      <a:r>
                        <a:rPr/>
                        <a:t>11.4</a:t>
                      </a:r>
                    </a:p>
                  </a:txBody>
                </a:tc>
                <a:tc>
                  <a:txBody>
                    <a:bodyPr/>
                    <a:lstStyle/>
                    <a:p>
                      <a:pPr lvl="0" indent="0" marL="0">
                        <a:buNone/>
                      </a:pPr>
                      <a:r>
                        <a:rPr/>
                        <a:t>66.1</a:t>
                      </a:r>
                    </a:p>
                  </a:txBody>
                </a:tc>
                <a:tc>
                  <a:txBody>
                    <a:bodyPr/>
                    <a:lstStyle/>
                    <a:p>
                      <a:pPr lvl="0" indent="0" marL="0">
                        <a:buNone/>
                      </a:pPr>
                      <a:r>
                        <a:rPr/>
                        <a:t>499.35</a:t>
                      </a:r>
                    </a:p>
                  </a:txBody>
                </a:tc>
              </a:tr>
              <a:tr h="0">
                <a:tc>
                  <a:txBody>
                    <a:bodyPr/>
                    <a:lstStyle/>
                    <a:p>
                      <a:pPr lvl="0" indent="0" marL="0">
                        <a:buNone/>
                      </a:pPr>
                      <a:r>
                        <a:rPr/>
                        <a:t>4</a:t>
                      </a:r>
                    </a:p>
                  </a:txBody>
                </a:tc>
                <a:tc>
                  <a:txBody>
                    <a:bodyPr/>
                    <a:lstStyle/>
                    <a:p>
                      <a:pPr lvl="0" indent="0" marL="0">
                        <a:buNone/>
                      </a:pPr>
                      <a:r>
                        <a:rPr/>
                        <a:t>12</a:t>
                      </a:r>
                    </a:p>
                  </a:txBody>
                </a:tc>
                <a:tc>
                  <a:txBody>
                    <a:bodyPr/>
                    <a:lstStyle/>
                    <a:p>
                      <a:pPr lvl="0" indent="0" marL="0">
                        <a:buNone/>
                      </a:pPr>
                      <a:r>
                        <a:rPr/>
                        <a:t>6.4</a:t>
                      </a:r>
                    </a:p>
                  </a:txBody>
                </a:tc>
                <a:tc>
                  <a:txBody>
                    <a:bodyPr/>
                    <a:lstStyle/>
                    <a:p>
                      <a:pPr lvl="0" indent="0" marL="0">
                        <a:buNone/>
                      </a:pPr>
                      <a:r>
                        <a:rPr/>
                        <a:t>51.8</a:t>
                      </a:r>
                    </a:p>
                  </a:txBody>
                </a:tc>
                <a:tc>
                  <a:txBody>
                    <a:bodyPr/>
                    <a:lstStyle/>
                    <a:p>
                      <a:pPr lvl="0" indent="0" marL="0">
                        <a:buNone/>
                      </a:pPr>
                      <a:r>
                        <a:rPr/>
                        <a:t>113.92</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Tree Species Name Data: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SPCD</a:t>
                      </a:r>
                    </a:p>
                  </a:txBody>
                  <a:tcPr/>
                </a:tc>
                <a:tc>
                  <a:txBody>
                    <a:bodyPr/>
                    <a:lstStyle/>
                    <a:p>
                      <a:pPr lvl="0" indent="0" marL="0">
                        <a:buNone/>
                      </a:pPr>
                      <a:r>
                        <a:rPr/>
                        <a:t>COMMON_NAME</a:t>
                      </a:r>
                    </a:p>
                  </a:txBody>
                  <a:tcPr/>
                </a:tc>
              </a:tr>
              <a:tr h="0">
                <a:tc>
                  <a:txBody>
                    <a:bodyPr/>
                    <a:lstStyle/>
                    <a:p>
                      <a:pPr lvl="0" indent="0" marL="0">
                        <a:buNone/>
                      </a:pPr>
                      <a:r>
                        <a:rPr/>
                        <a:t>0</a:t>
                      </a:r>
                    </a:p>
                  </a:txBody>
                </a:tc>
                <a:tc>
                  <a:txBody>
                    <a:bodyPr/>
                    <a:lstStyle/>
                    <a:p>
                      <a:pPr lvl="0" indent="0" marL="0">
                        <a:buNone/>
                      </a:pPr>
                      <a:r>
                        <a:rPr/>
                        <a:t>10</a:t>
                      </a:r>
                    </a:p>
                  </a:txBody>
                </a:tc>
                <a:tc>
                  <a:txBody>
                    <a:bodyPr/>
                    <a:lstStyle/>
                    <a:p>
                      <a:pPr lvl="0" indent="0" marL="0">
                        <a:buNone/>
                      </a:pPr>
                      <a:r>
                        <a:rPr/>
                        <a:t>fir spp.</a:t>
                      </a:r>
                    </a:p>
                  </a:txBody>
                </a:tc>
              </a:tr>
              <a:tr h="0">
                <a:tc>
                  <a:txBody>
                    <a:bodyPr/>
                    <a:lstStyle/>
                    <a:p>
                      <a:pPr lvl="0" indent="0" marL="0">
                        <a:buNone/>
                      </a:pPr>
                      <a:r>
                        <a:rPr/>
                        <a:t>1</a:t>
                      </a:r>
                    </a:p>
                  </a:txBody>
                </a:tc>
                <a:tc>
                  <a:txBody>
                    <a:bodyPr/>
                    <a:lstStyle/>
                    <a:p>
                      <a:pPr lvl="0" indent="0" marL="0">
                        <a:buNone/>
                      </a:pPr>
                      <a:r>
                        <a:rPr/>
                        <a:t>11</a:t>
                      </a:r>
                    </a:p>
                  </a:txBody>
                </a:tc>
                <a:tc>
                  <a:txBody>
                    <a:bodyPr/>
                    <a:lstStyle/>
                    <a:p>
                      <a:pPr lvl="0" indent="0" marL="0">
                        <a:buNone/>
                      </a:pPr>
                      <a:r>
                        <a:rPr/>
                        <a:t>Pacific silver fir</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balsam fir</a:t>
                      </a:r>
                    </a:p>
                  </a:txBody>
                </a:tc>
              </a:tr>
              <a:tr h="0">
                <a:tc>
                  <a:txBody>
                    <a:bodyPr/>
                    <a:lstStyle/>
                    <a:p>
                      <a:pPr lvl="0" indent="0" marL="0">
                        <a:buNone/>
                      </a:pPr>
                      <a:r>
                        <a:rPr/>
                        <a:t>3</a:t>
                      </a:r>
                    </a:p>
                  </a:txBody>
                </a:tc>
                <a:tc>
                  <a:txBody>
                    <a:bodyPr/>
                    <a:lstStyle/>
                    <a:p>
                      <a:pPr lvl="0" indent="0" marL="0">
                        <a:buNone/>
                      </a:pPr>
                      <a:r>
                        <a:rPr/>
                        <a:t>14</a:t>
                      </a:r>
                    </a:p>
                  </a:txBody>
                </a:tc>
                <a:tc>
                  <a:txBody>
                    <a:bodyPr/>
                    <a:lstStyle/>
                    <a:p>
                      <a:pPr lvl="0" indent="0" marL="0">
                        <a:buNone/>
                      </a:pPr>
                      <a:r>
                        <a:rPr/>
                        <a:t>Santa Lucia or bristlecone fir</a:t>
                      </a:r>
                    </a:p>
                  </a:txBody>
                </a:tc>
              </a:tr>
              <a:tr h="0">
                <a:tc>
                  <a:txBody>
                    <a:bodyPr/>
                    <a:lstStyle/>
                    <a:p>
                      <a:pPr lvl="0" indent="0" marL="0">
                        <a:buNone/>
                      </a:pPr>
                      <a:r>
                        <a:rPr/>
                        <a:t>4</a:t>
                      </a:r>
                    </a:p>
                  </a:txBody>
                </a:tc>
                <a:tc>
                  <a:txBody>
                    <a:bodyPr/>
                    <a:lstStyle/>
                    <a:p>
                      <a:pPr lvl="0" indent="0" marL="0">
                        <a:buNone/>
                      </a:pPr>
                      <a:r>
                        <a:rPr/>
                        <a:t>15</a:t>
                      </a:r>
                    </a:p>
                  </a:txBody>
                </a:tc>
                <a:tc>
                  <a:txBody>
                    <a:bodyPr/>
                    <a:lstStyle/>
                    <a:p>
                      <a:pPr lvl="0" indent="0" marL="0">
                        <a:buNone/>
                      </a:pPr>
                      <a:r>
                        <a:rPr/>
                        <a:t>white fir</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Combined Dataset (species mapped onto bigger dataset):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c>
                  <a:txBody>
                    <a:bodyPr/>
                    <a:lstStyle/>
                    <a:p>
                      <a:pPr lvl="0" indent="0" marL="0">
                        <a:buNone/>
                      </a:pPr>
                      <a:r>
                        <a:rPr/>
                        <a:t>COMMON_NAME</a:t>
                      </a:r>
                    </a:p>
                  </a:txBody>
                  <a:tcPr/>
                </a:tc>
              </a:tr>
              <a:tr h="0">
                <a:tc>
                  <a:txBody>
                    <a:bodyPr/>
                    <a:lstStyle/>
                    <a:p>
                      <a:pPr lvl="0" indent="0" marL="0">
                        <a:buNone/>
                      </a:pPr>
                      <a:r>
                        <a:rPr/>
                        <a:t>0</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45.2</a:t>
                      </a:r>
                    </a:p>
                  </a:txBody>
                </a:tc>
                <a:tc>
                  <a:txBody>
                    <a:bodyPr/>
                    <a:lstStyle/>
                    <a:p>
                      <a:pPr lvl="0" indent="0" marL="0">
                        <a:buNone/>
                      </a:pPr>
                      <a:r>
                        <a:rPr/>
                        <a:t>178.86</a:t>
                      </a:r>
                    </a:p>
                  </a:txBody>
                </a:tc>
                <a:tc>
                  <a:txBody>
                    <a:bodyPr/>
                    <a:lstStyle/>
                    <a:p>
                      <a:pPr lvl="0" indent="0" marL="0">
                        <a:buNone/>
                      </a:pPr>
                      <a:r>
                        <a:rPr/>
                        <a:t>balsam fir</a:t>
                      </a:r>
                    </a:p>
                  </a:txBody>
                </a:tc>
              </a:tr>
              <a:tr h="0">
                <a:tc>
                  <a:txBody>
                    <a:bodyPr/>
                    <a:lstStyle/>
                    <a:p>
                      <a:pPr lvl="0" indent="0" marL="0">
                        <a:buNone/>
                      </a:pPr>
                      <a:r>
                        <a:rPr/>
                        <a:t>1</a:t>
                      </a:r>
                    </a:p>
                  </a:txBody>
                </a:tc>
                <a:tc>
                  <a:txBody>
                    <a:bodyPr/>
                    <a:lstStyle/>
                    <a:p>
                      <a:pPr lvl="0" indent="0" marL="0">
                        <a:buNone/>
                      </a:pPr>
                      <a:r>
                        <a:rPr/>
                        <a:t>12</a:t>
                      </a:r>
                    </a:p>
                  </a:txBody>
                </a:tc>
                <a:tc>
                  <a:txBody>
                    <a:bodyPr/>
                    <a:lstStyle/>
                    <a:p>
                      <a:pPr lvl="0" indent="0" marL="0">
                        <a:buNone/>
                      </a:pPr>
                      <a:r>
                        <a:rPr/>
                        <a:t>9.3</a:t>
                      </a:r>
                    </a:p>
                  </a:txBody>
                </a:tc>
                <a:tc>
                  <a:txBody>
                    <a:bodyPr/>
                    <a:lstStyle/>
                    <a:p>
                      <a:pPr lvl="0" indent="0" marL="0">
                        <a:buNone/>
                      </a:pPr>
                      <a:r>
                        <a:rPr/>
                        <a:t>62.7</a:t>
                      </a:r>
                    </a:p>
                  </a:txBody>
                </a:tc>
                <a:tc>
                  <a:txBody>
                    <a:bodyPr/>
                    <a:lstStyle/>
                    <a:p>
                      <a:pPr lvl="0" indent="0" marL="0">
                        <a:buNone/>
                      </a:pPr>
                      <a:r>
                        <a:rPr/>
                        <a:t>323.46</a:t>
                      </a:r>
                    </a:p>
                  </a:txBody>
                </a:tc>
                <a:tc>
                  <a:txBody>
                    <a:bodyPr/>
                    <a:lstStyle/>
                    <a:p>
                      <a:pPr lvl="0" indent="0" marL="0">
                        <a:buNone/>
                      </a:pPr>
                      <a:r>
                        <a:rPr/>
                        <a:t>balsam fir</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9.7</a:t>
                      </a:r>
                    </a:p>
                  </a:txBody>
                </a:tc>
                <a:tc>
                  <a:txBody>
                    <a:bodyPr/>
                    <a:lstStyle/>
                    <a:p>
                      <a:pPr lvl="0" indent="0" marL="0">
                        <a:buNone/>
                      </a:pPr>
                      <a:r>
                        <a:rPr/>
                        <a:t>56.7</a:t>
                      </a:r>
                    </a:p>
                  </a:txBody>
                </a:tc>
                <a:tc>
                  <a:txBody>
                    <a:bodyPr/>
                    <a:lstStyle/>
                    <a:p>
                      <a:pPr lvl="0" indent="0" marL="0">
                        <a:buNone/>
                      </a:pPr>
                      <a:r>
                        <a:rPr/>
                        <a:t>342.47</a:t>
                      </a:r>
                    </a:p>
                  </a:txBody>
                </a:tc>
                <a:tc>
                  <a:txBody>
                    <a:bodyPr/>
                    <a:lstStyle/>
                    <a:p>
                      <a:pPr lvl="0" indent="0" marL="0">
                        <a:buNone/>
                      </a:pPr>
                      <a:r>
                        <a:rPr/>
                        <a:t>balsam fir</a:t>
                      </a:r>
                    </a:p>
                  </a:txBody>
                </a:tc>
              </a:tr>
              <a:tr h="0">
                <a:tc>
                  <a:txBody>
                    <a:bodyPr/>
                    <a:lstStyle/>
                    <a:p>
                      <a:pPr lvl="0" indent="0" marL="0">
                        <a:buNone/>
                      </a:pPr>
                      <a:r>
                        <a:rPr/>
                        <a:t>3</a:t>
                      </a:r>
                    </a:p>
                  </a:txBody>
                </a:tc>
                <a:tc>
                  <a:txBody>
                    <a:bodyPr/>
                    <a:lstStyle/>
                    <a:p>
                      <a:pPr lvl="0" indent="0" marL="0">
                        <a:buNone/>
                      </a:pPr>
                      <a:r>
                        <a:rPr/>
                        <a:t>12</a:t>
                      </a:r>
                    </a:p>
                  </a:txBody>
                </a:tc>
                <a:tc>
                  <a:txBody>
                    <a:bodyPr/>
                    <a:lstStyle/>
                    <a:p>
                      <a:pPr lvl="0" indent="0" marL="0">
                        <a:buNone/>
                      </a:pPr>
                      <a:r>
                        <a:rPr/>
                        <a:t>11.4</a:t>
                      </a:r>
                    </a:p>
                  </a:txBody>
                </a:tc>
                <a:tc>
                  <a:txBody>
                    <a:bodyPr/>
                    <a:lstStyle/>
                    <a:p>
                      <a:pPr lvl="0" indent="0" marL="0">
                        <a:buNone/>
                      </a:pPr>
                      <a:r>
                        <a:rPr/>
                        <a:t>66.1</a:t>
                      </a:r>
                    </a:p>
                  </a:txBody>
                </a:tc>
                <a:tc>
                  <a:txBody>
                    <a:bodyPr/>
                    <a:lstStyle/>
                    <a:p>
                      <a:pPr lvl="0" indent="0" marL="0">
                        <a:buNone/>
                      </a:pPr>
                      <a:r>
                        <a:rPr/>
                        <a:t>499.35</a:t>
                      </a:r>
                    </a:p>
                  </a:txBody>
                </a:tc>
                <a:tc>
                  <a:txBody>
                    <a:bodyPr/>
                    <a:lstStyle/>
                    <a:p>
                      <a:pPr lvl="0" indent="0" marL="0">
                        <a:buNone/>
                      </a:pPr>
                      <a:r>
                        <a:rPr/>
                        <a:t>balsam fir</a:t>
                      </a:r>
                    </a:p>
                  </a:txBody>
                </a:tc>
              </a:tr>
              <a:tr h="0">
                <a:tc>
                  <a:txBody>
                    <a:bodyPr/>
                    <a:lstStyle/>
                    <a:p>
                      <a:pPr lvl="0" indent="0" marL="0">
                        <a:buNone/>
                      </a:pPr>
                      <a:r>
                        <a:rPr/>
                        <a:t>4</a:t>
                      </a:r>
                    </a:p>
                  </a:txBody>
                </a:tc>
                <a:tc>
                  <a:txBody>
                    <a:bodyPr/>
                    <a:lstStyle/>
                    <a:p>
                      <a:pPr lvl="0" indent="0" marL="0">
                        <a:buNone/>
                      </a:pPr>
                      <a:r>
                        <a:rPr/>
                        <a:t>12</a:t>
                      </a:r>
                    </a:p>
                  </a:txBody>
                </a:tc>
                <a:tc>
                  <a:txBody>
                    <a:bodyPr/>
                    <a:lstStyle/>
                    <a:p>
                      <a:pPr lvl="0" indent="0" marL="0">
                        <a:buNone/>
                      </a:pPr>
                      <a:r>
                        <a:rPr/>
                        <a:t>6.4</a:t>
                      </a:r>
                    </a:p>
                  </a:txBody>
                </a:tc>
                <a:tc>
                  <a:txBody>
                    <a:bodyPr/>
                    <a:lstStyle/>
                    <a:p>
                      <a:pPr lvl="0" indent="0" marL="0">
                        <a:buNone/>
                      </a:pPr>
                      <a:r>
                        <a:rPr/>
                        <a:t>51.8</a:t>
                      </a:r>
                    </a:p>
                  </a:txBody>
                </a:tc>
                <a:tc>
                  <a:txBody>
                    <a:bodyPr/>
                    <a:lstStyle/>
                    <a:p>
                      <a:pPr lvl="0" indent="0" marL="0">
                        <a:buNone/>
                      </a:pPr>
                      <a:r>
                        <a:rPr/>
                        <a:t>113.92</a:t>
                      </a:r>
                    </a:p>
                  </a:txBody>
                </a:tc>
                <a:tc>
                  <a:txBody>
                    <a:bodyPr/>
                    <a:lstStyle/>
                    <a:p>
                      <a:pPr lvl="0" indent="0" marL="0">
                        <a:buNone/>
                      </a:pPr>
                      <a:r>
                        <a:rPr/>
                        <a:t>balsam fir</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Filtered data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c>
                  <a:txBody>
                    <a:bodyPr/>
                    <a:lstStyle/>
                    <a:p>
                      <a:pPr lvl="0" indent="0" marL="0">
                        <a:buNone/>
                      </a:pPr>
                      <a:r>
                        <a:rPr/>
                        <a:t>COMMON_NAME</a:t>
                      </a:r>
                    </a:p>
                  </a:txBody>
                  <a:tcPr/>
                </a:tc>
              </a:tr>
              <a:tr h="0">
                <a:tc>
                  <a:txBody>
                    <a:bodyPr/>
                    <a:lstStyle/>
                    <a:p>
                      <a:pPr lvl="0" indent="0" marL="0">
                        <a:buNone/>
                      </a:pPr>
                      <a:r>
                        <a:rPr/>
                        <a:t>0</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45.2</a:t>
                      </a:r>
                    </a:p>
                  </a:txBody>
                </a:tc>
                <a:tc>
                  <a:txBody>
                    <a:bodyPr/>
                    <a:lstStyle/>
                    <a:p>
                      <a:pPr lvl="0" indent="0" marL="0">
                        <a:buNone/>
                      </a:pPr>
                      <a:r>
                        <a:rPr/>
                        <a:t>178.86</a:t>
                      </a:r>
                    </a:p>
                  </a:txBody>
                </a:tc>
                <a:tc>
                  <a:txBody>
                    <a:bodyPr/>
                    <a:lstStyle/>
                    <a:p>
                      <a:pPr lvl="0" indent="0" marL="0">
                        <a:buNone/>
                      </a:pPr>
                      <a:r>
                        <a:rPr/>
                        <a:t>balsam fir</a:t>
                      </a:r>
                    </a:p>
                  </a:txBody>
                </a:tc>
              </a:tr>
              <a:tr h="0">
                <a:tc>
                  <a:txBody>
                    <a:bodyPr/>
                    <a:lstStyle/>
                    <a:p>
                      <a:pPr lvl="0" indent="0" marL="0">
                        <a:buNone/>
                      </a:pPr>
                      <a:r>
                        <a:rPr/>
                        <a:t>1</a:t>
                      </a:r>
                    </a:p>
                  </a:txBody>
                </a:tc>
                <a:tc>
                  <a:txBody>
                    <a:bodyPr/>
                    <a:lstStyle/>
                    <a:p>
                      <a:pPr lvl="0" indent="0" marL="0">
                        <a:buNone/>
                      </a:pPr>
                      <a:r>
                        <a:rPr/>
                        <a:t>12</a:t>
                      </a:r>
                    </a:p>
                  </a:txBody>
                </a:tc>
                <a:tc>
                  <a:txBody>
                    <a:bodyPr/>
                    <a:lstStyle/>
                    <a:p>
                      <a:pPr lvl="0" indent="0" marL="0">
                        <a:buNone/>
                      </a:pPr>
                      <a:r>
                        <a:rPr/>
                        <a:t>9.3</a:t>
                      </a:r>
                    </a:p>
                  </a:txBody>
                </a:tc>
                <a:tc>
                  <a:txBody>
                    <a:bodyPr/>
                    <a:lstStyle/>
                    <a:p>
                      <a:pPr lvl="0" indent="0" marL="0">
                        <a:buNone/>
                      </a:pPr>
                      <a:r>
                        <a:rPr/>
                        <a:t>62.7</a:t>
                      </a:r>
                    </a:p>
                  </a:txBody>
                </a:tc>
                <a:tc>
                  <a:txBody>
                    <a:bodyPr/>
                    <a:lstStyle/>
                    <a:p>
                      <a:pPr lvl="0" indent="0" marL="0">
                        <a:buNone/>
                      </a:pPr>
                      <a:r>
                        <a:rPr/>
                        <a:t>323.46</a:t>
                      </a:r>
                    </a:p>
                  </a:txBody>
                </a:tc>
                <a:tc>
                  <a:txBody>
                    <a:bodyPr/>
                    <a:lstStyle/>
                    <a:p>
                      <a:pPr lvl="0" indent="0" marL="0">
                        <a:buNone/>
                      </a:pPr>
                      <a:r>
                        <a:rPr/>
                        <a:t>balsam fir</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9.7</a:t>
                      </a:r>
                    </a:p>
                  </a:txBody>
                </a:tc>
                <a:tc>
                  <a:txBody>
                    <a:bodyPr/>
                    <a:lstStyle/>
                    <a:p>
                      <a:pPr lvl="0" indent="0" marL="0">
                        <a:buNone/>
                      </a:pPr>
                      <a:r>
                        <a:rPr/>
                        <a:t>56.7</a:t>
                      </a:r>
                    </a:p>
                  </a:txBody>
                </a:tc>
                <a:tc>
                  <a:txBody>
                    <a:bodyPr/>
                    <a:lstStyle/>
                    <a:p>
                      <a:pPr lvl="0" indent="0" marL="0">
                        <a:buNone/>
                      </a:pPr>
                      <a:r>
                        <a:rPr/>
                        <a:t>342.47</a:t>
                      </a:r>
                    </a:p>
                  </a:txBody>
                </a:tc>
                <a:tc>
                  <a:txBody>
                    <a:bodyPr/>
                    <a:lstStyle/>
                    <a:p>
                      <a:pPr lvl="0" indent="0" marL="0">
                        <a:buNone/>
                      </a:pPr>
                      <a:r>
                        <a:rPr/>
                        <a:t>balsam fir</a:t>
                      </a:r>
                    </a:p>
                  </a:txBody>
                </a:tc>
              </a:tr>
              <a:tr h="0">
                <a:tc>
                  <a:txBody>
                    <a:bodyPr/>
                    <a:lstStyle/>
                    <a:p>
                      <a:pPr lvl="0" indent="0" marL="0">
                        <a:buNone/>
                      </a:pPr>
                      <a:r>
                        <a:rPr/>
                        <a:t>3</a:t>
                      </a:r>
                    </a:p>
                  </a:txBody>
                </a:tc>
                <a:tc>
                  <a:txBody>
                    <a:bodyPr/>
                    <a:lstStyle/>
                    <a:p>
                      <a:pPr lvl="0" indent="0" marL="0">
                        <a:buNone/>
                      </a:pPr>
                      <a:r>
                        <a:rPr/>
                        <a:t>12</a:t>
                      </a:r>
                    </a:p>
                  </a:txBody>
                </a:tc>
                <a:tc>
                  <a:txBody>
                    <a:bodyPr/>
                    <a:lstStyle/>
                    <a:p>
                      <a:pPr lvl="0" indent="0" marL="0">
                        <a:buNone/>
                      </a:pPr>
                      <a:r>
                        <a:rPr/>
                        <a:t>11.4</a:t>
                      </a:r>
                    </a:p>
                  </a:txBody>
                </a:tc>
                <a:tc>
                  <a:txBody>
                    <a:bodyPr/>
                    <a:lstStyle/>
                    <a:p>
                      <a:pPr lvl="0" indent="0" marL="0">
                        <a:buNone/>
                      </a:pPr>
                      <a:r>
                        <a:rPr/>
                        <a:t>66.1</a:t>
                      </a:r>
                    </a:p>
                  </a:txBody>
                </a:tc>
                <a:tc>
                  <a:txBody>
                    <a:bodyPr/>
                    <a:lstStyle/>
                    <a:p>
                      <a:pPr lvl="0" indent="0" marL="0">
                        <a:buNone/>
                      </a:pPr>
                      <a:r>
                        <a:rPr/>
                        <a:t>499.35</a:t>
                      </a:r>
                    </a:p>
                  </a:txBody>
                </a:tc>
                <a:tc>
                  <a:txBody>
                    <a:bodyPr/>
                    <a:lstStyle/>
                    <a:p>
                      <a:pPr lvl="0" indent="0" marL="0">
                        <a:buNone/>
                      </a:pPr>
                      <a:r>
                        <a:rPr/>
                        <a:t>balsam fir</a:t>
                      </a:r>
                    </a:p>
                  </a:txBody>
                </a:tc>
              </a:tr>
              <a:tr h="0">
                <a:tc>
                  <a:txBody>
                    <a:bodyPr/>
                    <a:lstStyle/>
                    <a:p>
                      <a:pPr lvl="0" indent="0" marL="0">
                        <a:buNone/>
                      </a:pPr>
                      <a:r>
                        <a:rPr/>
                        <a:t>4</a:t>
                      </a:r>
                    </a:p>
                  </a:txBody>
                </a:tc>
                <a:tc>
                  <a:txBody>
                    <a:bodyPr/>
                    <a:lstStyle/>
                    <a:p>
                      <a:pPr lvl="0" indent="0" marL="0">
                        <a:buNone/>
                      </a:pPr>
                      <a:r>
                        <a:rPr/>
                        <a:t>12</a:t>
                      </a:r>
                    </a:p>
                  </a:txBody>
                </a:tc>
                <a:tc>
                  <a:txBody>
                    <a:bodyPr/>
                    <a:lstStyle/>
                    <a:p>
                      <a:pPr lvl="0" indent="0" marL="0">
                        <a:buNone/>
                      </a:pPr>
                      <a:r>
                        <a:rPr/>
                        <a:t>6.4</a:t>
                      </a:r>
                    </a:p>
                  </a:txBody>
                </a:tc>
                <a:tc>
                  <a:txBody>
                    <a:bodyPr/>
                    <a:lstStyle/>
                    <a:p>
                      <a:pPr lvl="0" indent="0" marL="0">
                        <a:buNone/>
                      </a:pPr>
                      <a:r>
                        <a:rPr/>
                        <a:t>51.8</a:t>
                      </a:r>
                    </a:p>
                  </a:txBody>
                </a:tc>
                <a:tc>
                  <a:txBody>
                    <a:bodyPr/>
                    <a:lstStyle/>
                    <a:p>
                      <a:pPr lvl="0" indent="0" marL="0">
                        <a:buNone/>
                      </a:pPr>
                      <a:r>
                        <a:rPr/>
                        <a:t>113.92</a:t>
                      </a:r>
                    </a:p>
                  </a:txBody>
                </a:tc>
                <a:tc>
                  <a:txBody>
                    <a:bodyPr/>
                    <a:lstStyle/>
                    <a:p>
                      <a:pPr lvl="0" indent="0" marL="0">
                        <a:buNone/>
                      </a:pPr>
                      <a:r>
                        <a:rPr/>
                        <a:t>balsam fir</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Quality Assurance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Redwood Analytics Project 3: Predicting Tree Biomass</dc:title>
  <dc:creator/>
  <cp:keywords/>
  <dcterms:created xsi:type="dcterms:W3CDTF">2025-12-14T23:26:34Z</dcterms:created>
  <dcterms:modified xsi:type="dcterms:W3CDTF">2025-12-14T23:26:34Z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subtitle">
    <vt:lpwstr>By Evan Blem, Dean Callahan, Zach Griffiths, and Jaiden Roe</vt:lpwstr>
  </property>
  <property fmtid="{D5CDD505-2E9C-101B-9397-08002B2CF9AE}" pid="9" name="toc-title">
    <vt:lpwstr>Table of contents</vt:lpwstr>
  </property>
</Properties>
</file>