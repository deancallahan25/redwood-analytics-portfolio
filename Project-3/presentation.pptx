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forestry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373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47800" y="1193800"/>
            <a:ext cx="62484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153.474421</a:t>
                      </a:r>
                    </a:p>
                  </a:txBody>
                </a:tc>
                <a:tc>
                  <a:txBody>
                    <a:bodyPr/>
                    <a:lstStyle/>
                    <a:p>
                      <a:pPr lvl="0" indent="0" marL="0">
                        <a:buNone/>
                      </a:pPr>
                      <a:r>
                        <a:rPr/>
                        <a:t>42.215118</a:t>
                      </a:r>
                    </a:p>
                  </a:txBody>
                </a:tc>
                <a:tc>
                  <a:txBody>
                    <a:bodyPr/>
                    <a:lstStyle/>
                    <a:p>
                      <a:pPr lvl="0" indent="0" marL="0">
                        <a:buNone/>
                      </a:pPr>
                      <a:r>
                        <a:rPr/>
                        <a:t>0.149516</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156.768710</a:t>
                      </a:r>
                    </a:p>
                  </a:txBody>
                </a:tc>
                <a:tc>
                  <a:txBody>
                    <a:bodyPr/>
                    <a:lstStyle/>
                    <a:p>
                      <a:pPr lvl="0" indent="0" marL="0">
                        <a:buNone/>
                      </a:pPr>
                      <a:r>
                        <a:rPr/>
                        <a:t>43.559217</a:t>
                      </a:r>
                    </a:p>
                  </a:txBody>
                </a:tc>
                <a:tc>
                  <a:txBody>
                    <a:bodyPr/>
                    <a:lstStyle/>
                    <a:p>
                      <a:pPr lvl="0" indent="0" marL="0">
                        <a:buNone/>
                      </a:pPr>
                      <a:r>
                        <a:rPr/>
                        <a:t>0.154670</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161.016214</a:t>
                      </a:r>
                    </a:p>
                  </a:txBody>
                </a:tc>
                <a:tc>
                  <a:txBody>
                    <a:bodyPr/>
                    <a:lstStyle/>
                    <a:p>
                      <a:pPr lvl="0" indent="0" marL="0">
                        <a:buNone/>
                      </a:pPr>
                      <a:r>
                        <a:rPr/>
                        <a:t>44.751469</a:t>
                      </a:r>
                    </a:p>
                  </a:txBody>
                </a:tc>
                <a:tc>
                  <a:txBody>
                    <a:bodyPr/>
                    <a:lstStyle/>
                    <a:p>
                      <a:pPr lvl="0" indent="0" marL="0">
                        <a:buNone/>
                      </a:pPr>
                      <a:r>
                        <a:rPr/>
                        <a:t>0.160504</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0.152781
1   3   0.158063
2   4   0.162117
3   5   0.168000
4   6   0.174246
5   7   0.180280
6   8   0.185069
7   9   0.190148
8  10   0.196827</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453</a:t>
                      </a:r>
                    </a:p>
                  </a:txBody>
                </a:tc>
                <a:tc>
                  <a:txBody>
                    <a:bodyPr/>
                    <a:lstStyle/>
                    <a:p>
                      <a:pPr lvl="0" indent="0" marL="0">
                        <a:buNone/>
                      </a:pPr>
                      <a:r>
                        <a:rPr/>
                        <a:t>995</a:t>
                      </a:r>
                    </a:p>
                  </a:txBody>
                </a:tc>
                <a:tc>
                  <a:txBody>
                    <a:bodyPr/>
                    <a:lstStyle/>
                    <a:p>
                      <a:pPr lvl="0" indent="0" marL="0">
                        <a:buNone/>
                      </a:pPr>
                      <a:r>
                        <a:rPr/>
                        <a:t>tungoil tree</a:t>
                      </a:r>
                    </a:p>
                  </a:txBody>
                </a:tc>
              </a:tr>
              <a:tr h="0">
                <a:tc>
                  <a:txBody>
                    <a:bodyPr/>
                    <a:lstStyle/>
                    <a:p>
                      <a:pPr lvl="0" indent="0" marL="0">
                        <a:buNone/>
                      </a:pPr>
                      <a:r>
                        <a:rPr/>
                        <a:t>454</a:t>
                      </a:r>
                    </a:p>
                  </a:txBody>
                </a:tc>
                <a:tc>
                  <a:txBody>
                    <a:bodyPr/>
                    <a:lstStyle/>
                    <a:p>
                      <a:pPr lvl="0" indent="0" marL="0">
                        <a:buNone/>
                      </a:pPr>
                      <a:r>
                        <a:rPr/>
                        <a:t>996</a:t>
                      </a:r>
                    </a:p>
                  </a:txBody>
                </a:tc>
                <a:tc>
                  <a:txBody>
                    <a:bodyPr/>
                    <a:lstStyle/>
                    <a:p>
                      <a:pPr lvl="0" indent="0" marL="0">
                        <a:buNone/>
                      </a:pPr>
                      <a:r>
                        <a:rPr/>
                        <a:t>smoketree</a:t>
                      </a:r>
                    </a:p>
                  </a:txBody>
                </a:tc>
              </a:tr>
              <a:tr h="0">
                <a:tc>
                  <a:txBody>
                    <a:bodyPr/>
                    <a:lstStyle/>
                    <a:p>
                      <a:pPr lvl="0" indent="0" marL="0">
                        <a:buNone/>
                      </a:pPr>
                      <a:r>
                        <a:rPr/>
                        <a:t>455</a:t>
                      </a:r>
                    </a:p>
                  </a:txBody>
                </a:tc>
                <a:tc>
                  <a:txBody>
                    <a:bodyPr/>
                    <a:lstStyle/>
                    <a:p>
                      <a:pPr lvl="0" indent="0" marL="0">
                        <a:buNone/>
                      </a:pPr>
                      <a:r>
                        <a:rPr/>
                        <a:t>997</a:t>
                      </a:r>
                    </a:p>
                  </a:txBody>
                </a:tc>
                <a:tc>
                  <a:txBody>
                    <a:bodyPr/>
                    <a:lstStyle/>
                    <a:p>
                      <a:pPr lvl="0" indent="0" marL="0">
                        <a:buNone/>
                      </a:pPr>
                      <a:r>
                        <a:rPr/>
                        <a:t>Russian-olive</a:t>
                      </a:r>
                    </a:p>
                  </a:txBody>
                </a:tc>
              </a:tr>
              <a:tr h="0">
                <a:tc>
                  <a:txBody>
                    <a:bodyPr/>
                    <a:lstStyle/>
                    <a:p>
                      <a:pPr lvl="0" indent="0" marL="0">
                        <a:buNone/>
                      </a:pPr>
                      <a:r>
                        <a:rPr/>
                        <a:t>456</a:t>
                      </a:r>
                    </a:p>
                  </a:txBody>
                </a:tc>
                <a:tc>
                  <a:txBody>
                    <a:bodyPr/>
                    <a:lstStyle/>
                    <a:p>
                      <a:pPr lvl="0" indent="0" marL="0">
                        <a:buNone/>
                      </a:pPr>
                      <a:r>
                        <a:rPr/>
                        <a:t>998</a:t>
                      </a:r>
                    </a:p>
                  </a:txBody>
                </a:tc>
                <a:tc>
                  <a:txBody>
                    <a:bodyPr/>
                    <a:lstStyle/>
                    <a:p>
                      <a:pPr lvl="0" indent="0" marL="0">
                        <a:buNone/>
                      </a:pPr>
                      <a:r>
                        <a:rPr/>
                        <a:t>Unknown dead hardwood</a:t>
                      </a:r>
                    </a:p>
                  </a:txBody>
                </a:tc>
              </a:tr>
              <a:tr h="0">
                <a:tc>
                  <a:txBody>
                    <a:bodyPr/>
                    <a:lstStyle/>
                    <a:p>
                      <a:pPr lvl="0" indent="0" marL="0">
                        <a:buNone/>
                      </a:pPr>
                      <a:r>
                        <a:rPr/>
                        <a:t>457</a:t>
                      </a:r>
                    </a:p>
                  </a:txBody>
                </a:tc>
                <a:tc>
                  <a:txBody>
                    <a:bodyPr/>
                    <a:lstStyle/>
                    <a:p>
                      <a:pPr lvl="0" indent="0" marL="0">
                        <a:buNone/>
                      </a:pPr>
                      <a:r>
                        <a:rPr/>
                        <a:t>999</a:t>
                      </a:r>
                    </a:p>
                  </a:txBody>
                </a:tc>
                <a:tc>
                  <a:txBody>
                    <a:bodyPr/>
                    <a:lstStyle/>
                    <a:p>
                      <a:pPr lvl="0" indent="0" marL="0">
                        <a:buNone/>
                      </a:pPr>
                      <a:r>
                        <a:rPr/>
                        <a:t>Other or unknown live tree</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c>
                  <a:txBody>
                    <a:bodyPr/>
                    <a:lstStyle/>
                    <a:p>
                      <a:pPr lvl="0" indent="0" marL="0">
                        <a:buNone/>
                      </a:pPr>
                      <a:r>
                        <a:rPr/>
                        <a:t>black willow</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c>
                  <a:txBody>
                    <a:bodyPr/>
                    <a:lstStyle/>
                    <a:p>
                      <a:pPr lvl="0" indent="0" marL="0">
                        <a:buNone/>
                      </a:pPr>
                      <a:r>
                        <a:rPr/>
                        <a:t>black willow</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c>
                  <a:txBody>
                    <a:bodyPr/>
                    <a:lstStyle/>
                    <a:p>
                      <a:pPr lvl="0" indent="0" marL="0">
                        <a:buNone/>
                      </a:pPr>
                      <a:r>
                        <a:rPr/>
                        <a:t>black willow</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c>
                  <a:txBody>
                    <a:bodyPr/>
                    <a:lstStyle/>
                    <a:p>
                      <a:pPr lvl="0" indent="0" marL="0">
                        <a:buNone/>
                      </a:pPr>
                      <a:r>
                        <a:rPr/>
                        <a:t>black willow</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c>
                  <a:txBody>
                    <a:bodyPr/>
                    <a:lstStyle/>
                    <a:p>
                      <a:pPr lvl="0" indent="0" marL="0">
                        <a:buNone/>
                      </a:pPr>
                      <a:r>
                        <a:rPr/>
                        <a:t>black willow</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(RMSLE) for k = 3: 0.1580629318243207
Average (RMSLE) for k = 4: 0.16211701677056745
Average (RMSLE) for k = 5: 0.16799989948813462
Average (RMSLE) for k = 6: 0.17424643902227938
Average (RMSLE) for k = 7: 0.18028016714992606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107641</a:t>
                      </a:r>
                    </a:p>
                  </a:txBody>
                </a:tc>
                <a:tc>
                  <a:txBody>
                    <a:bodyPr/>
                    <a:lstStyle/>
                    <a:p>
                      <a:pPr lvl="0" indent="0" marL="0">
                        <a:buNone/>
                      </a:pPr>
                      <a:r>
                        <a:rPr/>
                        <a:t>461</a:t>
                      </a:r>
                    </a:p>
                  </a:txBody>
                </a:tc>
                <a:tc>
                  <a:txBody>
                    <a:bodyPr/>
                    <a:lstStyle/>
                    <a:p>
                      <a:pPr lvl="0" indent="0" marL="0">
                        <a:buNone/>
                      </a:pPr>
                      <a:r>
                        <a:rPr/>
                        <a:t>17.5</a:t>
                      </a:r>
                    </a:p>
                  </a:txBody>
                </a:tc>
                <a:tc>
                  <a:txBody>
                    <a:bodyPr/>
                    <a:lstStyle/>
                    <a:p>
                      <a:pPr lvl="0" indent="0" marL="0">
                        <a:buNone/>
                      </a:pPr>
                      <a:r>
                        <a:rPr/>
                        <a:t>87.4</a:t>
                      </a:r>
                    </a:p>
                  </a:txBody>
                </a:tc>
                <a:tc>
                  <a:txBody>
                    <a:bodyPr/>
                    <a:lstStyle/>
                    <a:p>
                      <a:pPr lvl="0" indent="0" marL="0">
                        <a:buNone/>
                      </a:pPr>
                      <a:r>
                        <a:rPr/>
                        <a:t>2042.09</a:t>
                      </a:r>
                    </a:p>
                  </a:txBody>
                </a:tc>
                <a:tc>
                  <a:txBody>
                    <a:bodyPr/>
                    <a:lstStyle/>
                    <a:p>
                      <a:pPr lvl="0" indent="0" marL="0">
                        <a:buNone/>
                      </a:pPr>
                      <a:r>
                        <a:rPr/>
                        <a:t>sugarberry</a:t>
                      </a:r>
                    </a:p>
                  </a:txBody>
                </a:tc>
                <a:tc>
                  <a:txBody>
                    <a:bodyPr/>
                    <a:lstStyle/>
                    <a:p>
                      <a:pPr lvl="0" indent="0" marL="0">
                        <a:buNone/>
                      </a:pPr>
                      <a:r>
                        <a:rPr/>
                        <a:t>21022.145834</a:t>
                      </a:r>
                    </a:p>
                  </a:txBody>
                </a:tc>
                <a:tc>
                  <a:txBody>
                    <a:bodyPr/>
                    <a:lstStyle/>
                    <a:p>
                      <a:pPr lvl="0" indent="0" marL="0">
                        <a:buNone/>
                      </a:pPr>
                      <a:r>
                        <a:rPr/>
                        <a:t>1529.50</a:t>
                      </a:r>
                    </a:p>
                  </a:txBody>
                </a:tc>
                <a:tc>
                  <a:txBody>
                    <a:bodyPr/>
                    <a:lstStyle/>
                    <a:p>
                      <a:pPr lvl="0" indent="0" marL="0">
                        <a:buNone/>
                      </a:pPr>
                      <a:r>
                        <a:rPr/>
                        <a:t>7638.76</a:t>
                      </a:r>
                    </a:p>
                  </a:txBody>
                </a:tc>
              </a:tr>
              <a:tr h="0">
                <a:tc>
                  <a:txBody>
                    <a:bodyPr/>
                    <a:lstStyle/>
                    <a:p>
                      <a:pPr lvl="0" indent="0" marL="0">
                        <a:buNone/>
                      </a:pPr>
                      <a:r>
                        <a:rPr/>
                        <a:t>107642</a:t>
                      </a:r>
                    </a:p>
                  </a:txBody>
                </a:tc>
                <a:tc>
                  <a:txBody>
                    <a:bodyPr/>
                    <a:lstStyle/>
                    <a:p>
                      <a:pPr lvl="0" indent="0" marL="0">
                        <a:buNone/>
                      </a:pPr>
                      <a:r>
                        <a:rPr/>
                        <a:t>461</a:t>
                      </a:r>
                    </a:p>
                  </a:txBody>
                </a:tc>
                <a:tc>
                  <a:txBody>
                    <a:bodyPr/>
                    <a:lstStyle/>
                    <a:p>
                      <a:pPr lvl="0" indent="0" marL="0">
                        <a:buNone/>
                      </a:pPr>
                      <a:r>
                        <a:rPr/>
                        <a:t>10.0</a:t>
                      </a:r>
                    </a:p>
                  </a:txBody>
                </a:tc>
                <a:tc>
                  <a:txBody>
                    <a:bodyPr/>
                    <a:lstStyle/>
                    <a:p>
                      <a:pPr lvl="0" indent="0" marL="0">
                        <a:buNone/>
                      </a:pPr>
                      <a:r>
                        <a:rPr/>
                        <a:t>66.5</a:t>
                      </a:r>
                    </a:p>
                  </a:txBody>
                </a:tc>
                <a:tc>
                  <a:txBody>
                    <a:bodyPr/>
                    <a:lstStyle/>
                    <a:p>
                      <a:pPr lvl="0" indent="0" marL="0">
                        <a:buNone/>
                      </a:pPr>
                      <a:r>
                        <a:rPr/>
                        <a:t>565.80</a:t>
                      </a:r>
                    </a:p>
                  </a:txBody>
                </a:tc>
                <a:tc>
                  <a:txBody>
                    <a:bodyPr/>
                    <a:lstStyle/>
                    <a:p>
                      <a:pPr lvl="0" indent="0" marL="0">
                        <a:buNone/>
                      </a:pPr>
                      <a:r>
                        <a:rPr/>
                        <a:t>sugarberry</a:t>
                      </a:r>
                    </a:p>
                  </a:txBody>
                </a:tc>
                <a:tc>
                  <a:txBody>
                    <a:bodyPr/>
                    <a:lstStyle/>
                    <a:p>
                      <a:pPr lvl="0" indent="0" marL="0">
                        <a:buNone/>
                      </a:pPr>
                      <a:r>
                        <a:rPr/>
                        <a:t>5222.893375</a:t>
                      </a:r>
                    </a:p>
                  </a:txBody>
                </a:tc>
                <a:tc>
                  <a:txBody>
                    <a:bodyPr/>
                    <a:lstStyle/>
                    <a:p>
                      <a:pPr lvl="0" indent="0" marL="0">
                        <a:buNone/>
                      </a:pPr>
                      <a:r>
                        <a:rPr/>
                        <a:t>665.00</a:t>
                      </a:r>
                    </a:p>
                  </a:txBody>
                </a:tc>
                <a:tc>
                  <a:txBody>
                    <a:bodyPr/>
                    <a:lstStyle/>
                    <a:p>
                      <a:pPr lvl="0" indent="0" marL="0">
                        <a:buNone/>
                      </a:pPr>
                      <a:r>
                        <a:rPr/>
                        <a:t>4422.25</a:t>
                      </a:r>
                    </a:p>
                  </a:txBody>
                </a:tc>
              </a:tr>
              <a:tr h="0">
                <a:tc>
                  <a:txBody>
                    <a:bodyPr/>
                    <a:lstStyle/>
                    <a:p>
                      <a:pPr lvl="0" indent="0" marL="0">
                        <a:buNone/>
                      </a:pPr>
                      <a:r>
                        <a:rPr/>
                        <a:t>107643</a:t>
                      </a:r>
                    </a:p>
                  </a:txBody>
                </a:tc>
                <a:tc>
                  <a:txBody>
                    <a:bodyPr/>
                    <a:lstStyle/>
                    <a:p>
                      <a:pPr lvl="0" indent="0" marL="0">
                        <a:buNone/>
                      </a:pPr>
                      <a:r>
                        <a:rPr/>
                        <a:t>461</a:t>
                      </a:r>
                    </a:p>
                  </a:txBody>
                </a:tc>
                <a:tc>
                  <a:txBody>
                    <a:bodyPr/>
                    <a:lstStyle/>
                    <a:p>
                      <a:pPr lvl="0" indent="0" marL="0">
                        <a:buNone/>
                      </a:pPr>
                      <a:r>
                        <a:rPr/>
                        <a:t>6.2</a:t>
                      </a:r>
                    </a:p>
                  </a:txBody>
                </a:tc>
                <a:tc>
                  <a:txBody>
                    <a:bodyPr/>
                    <a:lstStyle/>
                    <a:p>
                      <a:pPr lvl="0" indent="0" marL="0">
                        <a:buNone/>
                      </a:pPr>
                      <a:r>
                        <a:rPr/>
                        <a:t>54.2</a:t>
                      </a:r>
                    </a:p>
                  </a:txBody>
                </a:tc>
                <a:tc>
                  <a:txBody>
                    <a:bodyPr/>
                    <a:lstStyle/>
                    <a:p>
                      <a:pPr lvl="0" indent="0" marL="0">
                        <a:buNone/>
                      </a:pPr>
                      <a:r>
                        <a:rPr/>
                        <a:t>191.04</a:t>
                      </a:r>
                    </a:p>
                  </a:txBody>
                </a:tc>
                <a:tc>
                  <a:txBody>
                    <a:bodyPr/>
                    <a:lstStyle/>
                    <a:p>
                      <a:pPr lvl="0" indent="0" marL="0">
                        <a:buNone/>
                      </a:pPr>
                      <a:r>
                        <a:rPr/>
                        <a:t>sugarberry</a:t>
                      </a:r>
                    </a:p>
                  </a:txBody>
                </a:tc>
                <a:tc>
                  <a:txBody>
                    <a:bodyPr/>
                    <a:lstStyle/>
                    <a:p>
                      <a:pPr lvl="0" indent="0" marL="0">
                        <a:buNone/>
                      </a:pPr>
                      <a:r>
                        <a:rPr/>
                        <a:t>1636.334851</a:t>
                      </a:r>
                    </a:p>
                  </a:txBody>
                </a:tc>
                <a:tc>
                  <a:txBody>
                    <a:bodyPr/>
                    <a:lstStyle/>
                    <a:p>
                      <a:pPr lvl="0" indent="0" marL="0">
                        <a:buNone/>
                      </a:pPr>
                      <a:r>
                        <a:rPr/>
                        <a:t>336.04</a:t>
                      </a:r>
                    </a:p>
                  </a:txBody>
                </a:tc>
                <a:tc>
                  <a:txBody>
                    <a:bodyPr/>
                    <a:lstStyle/>
                    <a:p>
                      <a:pPr lvl="0" indent="0" marL="0">
                        <a:buNone/>
                      </a:pPr>
                      <a:r>
                        <a:rPr/>
                        <a:t>2937.64</a:t>
                      </a:r>
                    </a:p>
                  </a:txBody>
                </a:tc>
              </a:tr>
              <a:tr h="0">
                <a:tc>
                  <a:txBody>
                    <a:bodyPr/>
                    <a:lstStyle/>
                    <a:p>
                      <a:pPr lvl="0" indent="0" marL="0">
                        <a:buNone/>
                      </a:pPr>
                      <a:r>
                        <a:rPr/>
                        <a:t>107644</a:t>
                      </a:r>
                    </a:p>
                  </a:txBody>
                </a:tc>
                <a:tc>
                  <a:txBody>
                    <a:bodyPr/>
                    <a:lstStyle/>
                    <a:p>
                      <a:pPr lvl="0" indent="0" marL="0">
                        <a:buNone/>
                      </a:pPr>
                      <a:r>
                        <a:rPr/>
                        <a:t>461</a:t>
                      </a:r>
                    </a:p>
                  </a:txBody>
                </a:tc>
                <a:tc>
                  <a:txBody>
                    <a:bodyPr/>
                    <a:lstStyle/>
                    <a:p>
                      <a:pPr lvl="0" indent="0" marL="0">
                        <a:buNone/>
                      </a:pPr>
                      <a:r>
                        <a:rPr/>
                        <a:t>16.0</a:t>
                      </a:r>
                    </a:p>
                  </a:txBody>
                </a:tc>
                <a:tc>
                  <a:txBody>
                    <a:bodyPr/>
                    <a:lstStyle/>
                    <a:p>
                      <a:pPr lvl="0" indent="0" marL="0">
                        <a:buNone/>
                      </a:pPr>
                      <a:r>
                        <a:rPr/>
                        <a:t>82.5</a:t>
                      </a:r>
                    </a:p>
                  </a:txBody>
                </a:tc>
                <a:tc>
                  <a:txBody>
                    <a:bodyPr/>
                    <a:lstStyle/>
                    <a:p>
                      <a:pPr lvl="0" indent="0" marL="0">
                        <a:buNone/>
                      </a:pPr>
                      <a:r>
                        <a:rPr/>
                        <a:t>1632.64</a:t>
                      </a:r>
                    </a:p>
                  </a:txBody>
                </a:tc>
                <a:tc>
                  <a:txBody>
                    <a:bodyPr/>
                    <a:lstStyle/>
                    <a:p>
                      <a:pPr lvl="0" indent="0" marL="0">
                        <a:buNone/>
                      </a:pPr>
                      <a:r>
                        <a:rPr/>
                        <a:t>sugarberry</a:t>
                      </a:r>
                    </a:p>
                  </a:txBody>
                </a:tc>
                <a:tc>
                  <a:txBody>
                    <a:bodyPr/>
                    <a:lstStyle/>
                    <a:p>
                      <a:pPr lvl="0" indent="0" marL="0">
                        <a:buNone/>
                      </a:pPr>
                      <a:r>
                        <a:rPr/>
                        <a:t>16587.595200</a:t>
                      </a:r>
                    </a:p>
                  </a:txBody>
                </a:tc>
                <a:tc>
                  <a:txBody>
                    <a:bodyPr/>
                    <a:lstStyle/>
                    <a:p>
                      <a:pPr lvl="0" indent="0" marL="0">
                        <a:buNone/>
                      </a:pPr>
                      <a:r>
                        <a:rPr/>
                        <a:t>1320.00</a:t>
                      </a:r>
                    </a:p>
                  </a:txBody>
                </a:tc>
                <a:tc>
                  <a:txBody>
                    <a:bodyPr/>
                    <a:lstStyle/>
                    <a:p>
                      <a:pPr lvl="0" indent="0" marL="0">
                        <a:buNone/>
                      </a:pPr>
                      <a:r>
                        <a:rPr/>
                        <a:t>6806.25</a:t>
                      </a:r>
                    </a:p>
                  </a:txBody>
                </a:tc>
              </a:tr>
              <a:tr h="0">
                <a:tc>
                  <a:txBody>
                    <a:bodyPr/>
                    <a:lstStyle/>
                    <a:p>
                      <a:pPr lvl="0" indent="0" marL="0">
                        <a:buNone/>
                      </a:pPr>
                      <a:r>
                        <a:rPr/>
                        <a:t>107645</a:t>
                      </a:r>
                    </a:p>
                  </a:txBody>
                </a:tc>
                <a:tc>
                  <a:txBody>
                    <a:bodyPr/>
                    <a:lstStyle/>
                    <a:p>
                      <a:pPr lvl="0" indent="0" marL="0">
                        <a:buNone/>
                      </a:pPr>
                      <a:r>
                        <a:rPr/>
                        <a:t>461</a:t>
                      </a:r>
                    </a:p>
                  </a:txBody>
                </a:tc>
                <a:tc>
                  <a:txBody>
                    <a:bodyPr/>
                    <a:lstStyle/>
                    <a:p>
                      <a:pPr lvl="0" indent="0" marL="0">
                        <a:buNone/>
                      </a:pPr>
                      <a:r>
                        <a:rPr/>
                        <a:t>16.7</a:t>
                      </a:r>
                    </a:p>
                  </a:txBody>
                </a:tc>
                <a:tc>
                  <a:txBody>
                    <a:bodyPr/>
                    <a:lstStyle/>
                    <a:p>
                      <a:pPr lvl="0" indent="0" marL="0">
                        <a:buNone/>
                      </a:pPr>
                      <a:r>
                        <a:rPr/>
                        <a:t>76.5</a:t>
                      </a:r>
                    </a:p>
                  </a:txBody>
                </a:tc>
                <a:tc>
                  <a:txBody>
                    <a:bodyPr/>
                    <a:lstStyle/>
                    <a:p>
                      <a:pPr lvl="0" indent="0" marL="0">
                        <a:buNone/>
                      </a:pPr>
                      <a:r>
                        <a:rPr/>
                        <a:t>1644.66</a:t>
                      </a:r>
                    </a:p>
                  </a:txBody>
                </a:tc>
                <a:tc>
                  <a:txBody>
                    <a:bodyPr/>
                    <a:lstStyle/>
                    <a:p>
                      <a:pPr lvl="0" indent="0" marL="0">
                        <a:buNone/>
                      </a:pPr>
                      <a:r>
                        <a:rPr/>
                        <a:t>sugarberry</a:t>
                      </a:r>
                    </a:p>
                  </a:txBody>
                </a:tc>
                <a:tc>
                  <a:txBody>
                    <a:bodyPr/>
                    <a:lstStyle/>
                    <a:p>
                      <a:pPr lvl="0" indent="0" marL="0">
                        <a:buNone/>
                      </a:pPr>
                      <a:r>
                        <a:rPr/>
                        <a:t>16756.522421</a:t>
                      </a:r>
                    </a:p>
                  </a:txBody>
                </a:tc>
                <a:tc>
                  <a:txBody>
                    <a:bodyPr/>
                    <a:lstStyle/>
                    <a:p>
                      <a:pPr lvl="0" indent="0" marL="0">
                        <a:buNone/>
                      </a:pPr>
                      <a:r>
                        <a:rPr/>
                        <a:t>1277.55</a:t>
                      </a:r>
                    </a:p>
                  </a:txBody>
                </a:tc>
                <a:tc>
                  <a:txBody>
                    <a:bodyPr/>
                    <a:lstStyle/>
                    <a:p>
                      <a:pPr lvl="0" indent="0" marL="0">
                        <a:buNone/>
                      </a:pPr>
                      <a:r>
                        <a:rPr/>
                        <a:t>5852.25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a:buNone/>
            </a:pPr>
            <a:r>
              <a:rPr>
                <a:latin typeface="Courier"/>
              </a:rPr>
              <a:t>Height squared average RMSLE: 0.17182461751440922
Height * diameter interacion average RMSLE: 0.15621192802587167
Volume feature average RMSLE: 0.1554593982967315</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
        <p:nvSpPr>
          <p:cNvPr id="3" name="Content Placeholder 2"/>
          <p:cNvSpPr>
            <a:spLocks noGrp="1"/>
          </p:cNvSpPr>
          <p:nvPr>
            <p:ph idx="1"/>
          </p:nvPr>
        </p:nvSpPr>
        <p:spPr/>
        <p:txBody>
          <a:bodyPr/>
          <a:lstStyle/>
          <a:p>
            <a:pPr lvl="0"/>
            <a:r>
              <a:rPr/>
              <a:t>Testing uncertainty quantification methods for our prediction intervals</a:t>
            </a:r>
          </a:p>
          <a:p>
            <a:pPr lvl="0"/>
            <a:r>
              <a:rPr/>
              <a:t>We did not use a linear model, so t-based prediction intervals couldn’t be made</a:t>
            </a:r>
          </a:p>
          <a:p>
            <a:pPr lvl="0"/>
            <a:r>
              <a:rPr/>
              <a:t>Compared the other three methods</a:t>
            </a:r>
          </a:p>
          <a:p>
            <a:pPr lvl="1"/>
            <a:r>
              <a:rPr/>
              <a:t>Conformal Prediction Intervals</a:t>
            </a:r>
          </a:p>
          <a:p>
            <a:pPr lvl="1"/>
            <a:r>
              <a:rPr/>
              <a:t>Quantile Regression Prediction Intervals</a:t>
            </a:r>
          </a:p>
          <a:p>
            <a:pPr lvl="1"/>
            <a:r>
              <a:rPr/>
              <a:t>Conformalized Quantile Regression (CQR) Prediction Intervals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Conformal Prediction Intervals</a:t>
            </a:r>
          </a:p>
        </p:txBody>
      </p:sp>
      <p:pic>
        <p:nvPicPr>
          <p:cNvPr descr="presentation_files/figure-pptx/cell-20-output-1.png" id="0" name="Picture 1"/>
          <p:cNvPicPr>
            <a:picLocks noGrp="1" noChangeAspect="1"/>
          </p:cNvPicPr>
          <p:nvPr/>
        </p:nvPicPr>
        <p:blipFill>
          <a:blip r:embed="rId2"/>
          <a:stretch>
            <a:fillRect/>
          </a:stretch>
        </p:blipFill>
        <p:spPr bwMode="auto">
          <a:xfrm>
            <a:off x="2197100" y="1193800"/>
            <a:ext cx="47625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Quantile Regression Prediciton Intervals</a:t>
            </a:r>
          </a:p>
        </p:txBody>
      </p:sp>
      <p:pic>
        <p:nvPicPr>
          <p:cNvPr descr="presentation_files/figure-pptx/cell-21-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CQR Prediction Intervals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data for CQR</a:t>
            </a:r>
          </a:p>
        </p:txBody>
      </p:sp>
      <p:sp>
        <p:nvSpPr>
          <p:cNvPr id="3" name="Content Placeholder 2"/>
          <p:cNvSpPr>
            <a:spLocks noGrp="1"/>
          </p:cNvSpPr>
          <p:nvPr>
            <p:ph idx="1"/>
          </p:nvPr>
        </p:nvSpPr>
        <p:spPr/>
        <p:txBody>
          <a:bodyPr/>
          <a:lstStyle/>
          <a:p>
            <a:pPr lvl="0" indent="0" marL="0">
              <a:buNone/>
            </a:pPr>
            <a:r>
              <a:rPr/>
              <a:t>all_species_cqr_results = [] alpha = 0.05 k = 3</a:t>
            </a:r>
          </a:p>
          <a:p>
            <a:pPr lvl="0" indent="0" marL="0">
              <a:buNone/>
            </a:pPr>
            <a:r>
              <a:rPr/>
              <a:t>for tree_name in unique_species: tree_subset = df_volume[df_volume[‘COMMON_NAME’] == tree_name].copy()</a:t>
            </a:r>
          </a:p>
          <a:p>
            <a:pPr lvl="0" indent="0">
              <a:buNone/>
            </a:pPr>
            <a:r>
              <a:rPr>
                <a:latin typeface="Courier"/>
              </a:rPr>
              <a:t>train_split_ratio = 0.8
cal_split_ratio = 0.10
train_size = int(len(tree_subset) * train_split_ratio)
cal_size = int(len(tree_subset) * cal_split_ratio)
train_species = tree_subset.iloc[:train_size]
calibration_species = tree_subset.iloc[train_size : train_size + cal_size]
features = ['DO_BH', 'HT_TOT', 'VOLUME']
target = 'TT_DW_CRM'
X_train_species = train_species[features]
y_train_species = train_species[target]
X_calibration_species = calibration_species[features]
y_calibration_species = calibration_species[target]
scaler = StandardScaler()
X_train_scaled = scaler.fit_transform(X_train_species)
X_calibration_scaled = scaler.transform(X_calibration_species)
X_full_species_scaled = scaler.transform(tree_subset[features]) 
X_train_scaled_df = pd.DataFrame(X_train_scaled, columns=features)
X_calibration_scaled_df = pd.DataFrame(X_calibration_scaled, columns=features)
X_full_species_scaled_df = pd.DataFrame(X_full_species_scaled, columns=features)
q_lower_cal_base = quantile_knn_predict(X_train_scaled_df, y_train_species,
                                        X_calibration_scaled_df, k, alpha / 2)
q_upper_cal_base = quantile_knn_predict(X_train_scaled_df, y_train_species,
                                        X_calibration_scaled_df, k, 1 - alpha / 2)
non_conformity_scores_cal = np.maximum(q_lower_cal_base - y_calibration_species.values,
                                       y_calibration_species.values - q_upper_cal_base)
non_conformity_scores_cal[non_conformity_scores_cal &lt; 0] = 0
q_conformal_cqr = np.quantile(non_conformity_scores_cal, 1 - alpha)
q_lower_full_base = quantile_knn_predict(X_train_scaled_df, y_train_species, X_full_species_scaled_df, k, alpha / 2)
q_upper_full_base = quantile_knn_predict(X_train_scaled_df, y_train_species, X_full_species_scaled_df, k, 1 - alpha / 2)
pi_lower_cqr = q_lower_full_base - q_conformal_cqr
pi_upper_cqr = q_upper_full_base + q_conformal_cqr
y_pred_median_full = quantile_knn_predict(X_train_scaled_df, y_train_species, X_full_species_scaled_df, k, 0.5)
avg_actual = tree_subset[target].mean()
avg_predicted = y_pred_median_full.mean()
avg_lower_bound = pi_lower_cqr.mean()
avg_upper_bound = pi_upper_cqr.mean()
species_results = {
    'tree_name': tree_name,
    'average_actual_biomass': avg_actual,
    'average_predicted_biomass': avg_predicted,
    'average_lower_bound_cqr': avg_lower_bound,
    'average_upper_bound_cqr': avg_upper_bound
}
all_species_cqr_results.append(species_results)</a:t>
            </a:r>
          </a:p>
          <a:p>
            <a:pPr lvl="0" indent="0" marL="0">
              <a:buNone/>
            </a:pPr>
            <a:r>
              <a:rPr/>
              <a:t>cqr_prediction_intervals_df = pd.DataFrame(all_species_cqr_results) cqr_prediction_intervals_df.columns = [ ‘Species Name’, ‘Average Actual Biomass’, ‘Average Predicted Biomass’, ‘Average Lower Bound CQR’, ‘Average Upper Bound CQR’]</a:t>
            </a:r>
          </a:p>
          <a:p>
            <a:pPr lvl="0" indent="0" marL="0">
              <a:buNone/>
            </a:pPr>
            <a:r>
              <a:rPr/>
              <a:t>cqr_prediction_intervals_df_sorted = cqr_prediction_intervals_df.sort_values(by=‘Average Predicted Biomass’).reset_index(drop=True) cqr_prediction_intervals_df_filtered = cqr_prediction_intervals_df_sorted[cqr_prediction_intervals_df_sorted[‘Average Actual Biomass’] &lt;= 1000]</a:t>
            </a:r>
          </a:p>
          <a:p>
            <a:pPr lvl="0" indent="0" marL="0">
              <a:buNone/>
            </a:pPr>
            <a:r>
              <a:rPr/>
              <a:t>plt.figure(figsize=(14, 7))</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CQR Plot</a:t>
            </a:r>
          </a:p>
        </p:txBody>
      </p:sp>
      <p:sp>
        <p:nvSpPr>
          <p:cNvPr id="3" name="Content Placeholder 2"/>
          <p:cNvSpPr>
            <a:spLocks noGrp="1"/>
          </p:cNvSpPr>
          <p:nvPr>
            <p:ph idx="1"/>
          </p:nvPr>
        </p:nvSpPr>
        <p:spPr/>
        <p:txBody>
          <a:bodyPr/>
          <a:lstStyle/>
          <a:p>
            <a:pPr lvl="0" indent="0" marL="0">
              <a:buNone/>
            </a:pPr>
            <a:r>
              <a:rPr/>
              <a:t>plt.plot(cqr_prediction_intervals_df_filtered.index, cqr_prediction_intervals_df_filtered[‘Average Actual Biomass’], ‘o’, label=‘Average Actual Biomass’, markersize=8, color=‘black’, alpha=0.7) plt.plot(cqr_prediction_intervals_df_filtered.index, cqr_prediction_intervals_df_filtered[‘Average Predicted Biomass’], ‘o-’, label=‘Average CQR Predicted Biomass (Median)’, linewidth=2, markersize=6, color=‘purple’, alpha=0.7) plt.fill_between(cqr_prediction_intervals_df_filtered.index, cqr_prediction_intervals_df_filtered[‘Average Lower Bound CQR’], cqr_prediction_intervals_df_filtered[‘Average Upper Bound CQR’], alpha=0.3, label=‘95% CQR Prediction Interval’, color=‘orange’)</a:t>
            </a:r>
          </a:p>
          <a:p>
            <a:pPr lvl="0" indent="0" marL="0">
              <a:buNone/>
            </a:pPr>
            <a:r>
              <a:rPr/>
              <a:t>plt.xlabel(‘Species Index (Sorted by Average Predicted Biomass)’, fontsize=11) plt.ylabel(‘Average Biomass’, fontsize=11) plt.title(‘kNN Conformalized Quantile Regression: Average Prediction Intervals per Species (Biomass &lt; 1000)’, fontsize=14, fontweight=‘bold’) plt.legend(fontsize=9) plt.grid(True, alpha=0.3) plt.tight_layout() plt.show()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2025-12-15T23:04:24Z</dcterms:created>
  <dcterms:modified xsi:type="dcterms:W3CDTF">2025-12-15T23:04:24Z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