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(FIA Species Code): A numeric code which unqiuely identifies each tree species and corresponds to a scientific and common name for the tree as specified by the FIA (Forest Inventory and Analysis) species coding system.</a:t>
            </a:r>
          </a:p>
          <a:p>
            <a:pPr lvl="0"/>
            <a:r>
              <a:rPr/>
              <a:t>DO_BH (Diameter at Breast Height): Diameter of the tree stem measured at breast height (4.5 feet or 1.37 meters above ground) including bark. This is the standard foresty measurement “DBH (outside bark)” and is the primary size variable used in nearly all allometric biomass models. This is measured in </a:t>
            </a:r>
            <a:r>
              <a:rPr b="1"/>
              <a:t>inches</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 This is measured in </a:t>
            </a:r>
            <a:r>
              <a:rPr b="1"/>
              <a:t>feet</a:t>
            </a:r>
            <a:r>
              <a:rPr/>
              <a:t>.</a:t>
            </a:r>
          </a:p>
          <a:p>
            <a:pPr lvl="0"/>
            <a:r>
              <a:rPr/>
              <a:t>TT_DW_CRM (Total Tree Dry Biomass): The total above-ground dry weight of the tree (includes stem wood, stem bark, branches, folliage). The value comes from destructive sampling: the tree was felled, separated into componenets, oven-dried, and weighed. This variable serves as the target variable from biomass prediction. Measured in </a:t>
            </a:r>
            <a:r>
              <a:rPr b="1"/>
              <a:t>kilograms</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 SERC scientist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When predicting tree biomass, employ the performance metric root mean square logarithmic error since biomass data varies greatly, ranging from tiny saplings to enormous grandpa trees, some trees having exponential growth. RMSLE focuses on percentage errors, making it fair to both small and large trees, unlike RMSE, which we believe penalizes errors on big trees. Fitting biomass estimations where scale matters more than absolute error. This metric is particularly useful in accurately assessing the predictive performance of models when dealing with such diverse ranges of tree sizes. By prioritizing percentage errors,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125.825473</a:t>
                      </a:r>
                    </a:p>
                  </a:txBody>
                </a:tc>
                <a:tc>
                  <a:txBody>
                    <a:bodyPr/>
                    <a:lstStyle/>
                    <a:p>
                      <a:pPr lvl="0" indent="0" marL="0">
                        <a:buNone/>
                      </a:pPr>
                      <a:r>
                        <a:rPr/>
                        <a:t>34.801913</a:t>
                      </a:r>
                    </a:p>
                  </a:txBody>
                </a:tc>
                <a:tc>
                  <a:txBody>
                    <a:bodyPr/>
                    <a:lstStyle/>
                    <a:p>
                      <a:pPr lvl="0" indent="0" marL="0">
                        <a:buNone/>
                      </a:pPr>
                      <a:r>
                        <a:rPr/>
                        <a:t>0.119574</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129.651479</a:t>
                      </a:r>
                    </a:p>
                  </a:txBody>
                </a:tc>
                <a:tc>
                  <a:txBody>
                    <a:bodyPr/>
                    <a:lstStyle/>
                    <a:p>
                      <a:pPr lvl="0" indent="0" marL="0">
                        <a:buNone/>
                      </a:pPr>
                      <a:r>
                        <a:rPr/>
                        <a:t>36.646493</a:t>
                      </a:r>
                    </a:p>
                  </a:txBody>
                </a:tc>
                <a:tc>
                  <a:txBody>
                    <a:bodyPr/>
                    <a:lstStyle/>
                    <a:p>
                      <a:pPr lvl="0" indent="0" marL="0">
                        <a:buNone/>
                      </a:pPr>
                      <a:r>
                        <a:rPr/>
                        <a:t>0.123724</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145.003601</a:t>
                      </a:r>
                    </a:p>
                  </a:txBody>
                </a:tc>
                <a:tc>
                  <a:txBody>
                    <a:bodyPr/>
                    <a:lstStyle/>
                    <a:p>
                      <a:pPr lvl="0" indent="0" marL="0">
                        <a:buNone/>
                      </a:pPr>
                      <a:r>
                        <a:rPr/>
                        <a:t>41.209530</a:t>
                      </a:r>
                    </a:p>
                  </a:txBody>
                </a:tc>
                <a:tc>
                  <a:txBody>
                    <a:bodyPr/>
                    <a:lstStyle/>
                    <a:p>
                      <a:pPr lvl="0" indent="0" marL="0">
                        <a:buNone/>
                      </a:pPr>
                      <a:r>
                        <a:rPr/>
                        <a:t>0.144063</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147.451321</a:t>
                      </a:r>
                    </a:p>
                  </a:txBody>
                </a:tc>
                <a:tc>
                  <a:txBody>
                    <a:bodyPr/>
                    <a:lstStyle/>
                    <a:p>
                      <a:pPr lvl="0" indent="0" marL="0">
                        <a:buNone/>
                      </a:pPr>
                      <a:r>
                        <a:rPr/>
                        <a:t>40.791681</a:t>
                      </a:r>
                    </a:p>
                  </a:txBody>
                </a:tc>
                <a:tc>
                  <a:txBody>
                    <a:bodyPr/>
                    <a:lstStyle/>
                    <a:p>
                      <a:pPr lvl="0" indent="0" marL="0">
                        <a:buNone/>
                      </a:pPr>
                      <a:r>
                        <a:rPr/>
                        <a:t>0.142862</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a:r>
              <a:rPr/>
              <a:t>Split and filtering methods</a:t>
            </a:r>
          </a:p>
          <a:p>
            <a:pPr lvl="0"/>
            <a:r>
              <a:rPr/>
              <a:t>Feature engineering (what worked and what didn’t)</a:t>
            </a:r>
          </a:p>
          <a:p>
            <a:pPr lvl="0"/>
            <a:r>
              <a:rPr/>
              <a:t>Tuning k for the best model</a:t>
            </a:r>
          </a:p>
          <a:p>
            <a:pPr lvl="0"/>
            <a:r>
              <a:rPr/>
              <a:t>The final “best” model and error # 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2025-12-15T00:41:42Z</dcterms:created>
  <dcterms:modified xsi:type="dcterms:W3CDTF">2025-12-15T00:41:42Z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