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a:t>
            </a:r>
          </a:p>
        </p:txBody>
      </p:sp>
      <p:sp>
        <p:nvSpPr>
          <p:cNvPr id="3" name="Content Placeholder 2"/>
          <p:cNvSpPr>
            <a:spLocks noGrp="1"/>
          </p:cNvSpPr>
          <p:nvPr>
            <p:ph idx="1"/>
          </p:nvPr>
        </p:nvSpPr>
        <p:spPr/>
        <p:txBody>
          <a:bodyPr/>
          <a:lstStyle/>
          <a:p>
            <a:pPr lvl="0"/>
            <a:r>
              <a:rPr/>
              <a:t>When predicting tree biomass, employ the performance metric root mean square logarithmic error since biomass data varies greatly, ranging from tiny saplings to enormous trees, majority of trees having exponential growth.</a:t>
            </a:r>
          </a:p>
          <a:p>
            <a:pPr lvl="0"/>
            <a:r>
              <a:rPr/>
              <a:t>We chose kNN regression over linear regression because when looking at the graphs Dean presented, we saw that the tree diameter/height vs. biomass graphs all have exponential growth.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 pt 2</a:t>
            </a:r>
          </a:p>
        </p:txBody>
      </p:sp>
      <p:sp>
        <p:nvSpPr>
          <p:cNvPr id="3" name="Content Placeholder 2"/>
          <p:cNvSpPr>
            <a:spLocks noGrp="1"/>
          </p:cNvSpPr>
          <p:nvPr>
            <p:ph idx="1"/>
          </p:nvPr>
        </p:nvSpPr>
        <p:spPr/>
        <p:txBody>
          <a:bodyPr/>
          <a:lstStyle/>
          <a:p>
            <a:pPr lvl="0"/>
            <a:r>
              <a:rPr/>
              <a:t>When relations between biomass and trees diameter and height are complex and non linear, data is abundent, and the model needs to be adaptive with out maksing major changes in the model. kNN excels in capturing patterns and irregular patterns.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a:r>
              <a:rPr b="1"/>
              <a:t>RMSLE over RMSE</a:t>
            </a:r>
            <a:r>
              <a:rPr/>
              <a:t>: focuses on percentage errors, making it fair to both small and large trees, unlike RMSE, which we believe penalizes errors on big trees. Fitting biomass estimations where scale matters more than absolute error.</a:t>
            </a:r>
          </a:p>
          <a:p>
            <a:pPr lvl="0"/>
            <a:r>
              <a:rPr/>
              <a:t>By prioritizing percentage errors, RMSLE provides a more balanced evaluation that considers the unique characteristics of tree biomass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
        <p:nvSpPr>
          <p:cNvPr id="3" name="Content Placeholder 2"/>
          <p:cNvSpPr>
            <a:spLocks noGrp="1"/>
          </p:cNvSpPr>
          <p:nvPr>
            <p:ph idx="1"/>
          </p:nvPr>
        </p:nvSpPr>
        <p:spPr/>
        <p:txBody>
          <a:bodyPr/>
          <a:lstStyle/>
          <a:p>
            <a:pPr lvl="0"/>
            <a:r>
              <a:rPr/>
              <a:t>Overview of data manipulation</a:t>
            </a:r>
          </a:p>
          <a:p>
            <a:pPr lvl="0"/>
            <a:r>
              <a:rPr/>
              <a:t>Split and filtering methods</a:t>
            </a:r>
          </a:p>
          <a:p>
            <a:pPr lvl="0"/>
            <a:r>
              <a:rPr/>
              <a:t>Feature engineering (what worked and what didn’t)</a:t>
            </a:r>
          </a:p>
          <a:p>
            <a:pPr lvl="0"/>
            <a:r>
              <a:rPr/>
              <a:t>Tuning k for the best model</a:t>
            </a:r>
          </a:p>
          <a:p>
            <a:pPr lvl="0"/>
            <a:r>
              <a:rPr/>
              <a:t>The final “best” model and error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 (minimum 100 data points)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137035</a:t>
                      </a:r>
                    </a:p>
                  </a:txBody>
                </a:tc>
                <a:tc>
                  <a:txBody>
                    <a:bodyPr/>
                    <a:lstStyle/>
                    <a:p>
                      <a:pPr lvl="0" indent="0" marL="0">
                        <a:buNone/>
                      </a:pPr>
                      <a:r>
                        <a:rPr/>
                        <a:t>691</a:t>
                      </a:r>
                    </a:p>
                  </a:txBody>
                </a:tc>
                <a:tc>
                  <a:txBody>
                    <a:bodyPr/>
                    <a:lstStyle/>
                    <a:p>
                      <a:pPr lvl="0" indent="0" marL="0">
                        <a:buNone/>
                      </a:pPr>
                      <a:r>
                        <a:rPr/>
                        <a:t>3.7</a:t>
                      </a:r>
                    </a:p>
                  </a:txBody>
                </a:tc>
                <a:tc>
                  <a:txBody>
                    <a:bodyPr/>
                    <a:lstStyle/>
                    <a:p>
                      <a:pPr lvl="0" indent="0" marL="0">
                        <a:buNone/>
                      </a:pPr>
                      <a:r>
                        <a:rPr/>
                        <a:t>25.4</a:t>
                      </a:r>
                    </a:p>
                  </a:txBody>
                </a:tc>
                <a:tc>
                  <a:txBody>
                    <a:bodyPr/>
                    <a:lstStyle/>
                    <a:p>
                      <a:pPr lvl="0" indent="0" marL="0">
                        <a:buNone/>
                      </a:pPr>
                      <a:r>
                        <a:rPr/>
                        <a:t>40.76</a:t>
                      </a:r>
                    </a:p>
                  </a:txBody>
                </a:tc>
                <a:tc>
                  <a:txBody>
                    <a:bodyPr/>
                    <a:lstStyle/>
                    <a:p>
                      <a:pPr lvl="0" indent="0" marL="0">
                        <a:buNone/>
                      </a:pPr>
                      <a:r>
                        <a:rPr/>
                        <a:t>water tupelo</a:t>
                      </a:r>
                    </a:p>
                  </a:txBody>
                </a:tc>
              </a:tr>
              <a:tr h="0">
                <a:tc>
                  <a:txBody>
                    <a:bodyPr/>
                    <a:lstStyle/>
                    <a:p>
                      <a:pPr lvl="0" indent="0" marL="0">
                        <a:buNone/>
                      </a:pPr>
                      <a:r>
                        <a:rPr/>
                        <a:t>137036</a:t>
                      </a:r>
                    </a:p>
                  </a:txBody>
                </a:tc>
                <a:tc>
                  <a:txBody>
                    <a:bodyPr/>
                    <a:lstStyle/>
                    <a:p>
                      <a:pPr lvl="0" indent="0" marL="0">
                        <a:buNone/>
                      </a:pPr>
                      <a:r>
                        <a:rPr/>
                        <a:t>691</a:t>
                      </a:r>
                    </a:p>
                  </a:txBody>
                </a:tc>
                <a:tc>
                  <a:txBody>
                    <a:bodyPr/>
                    <a:lstStyle/>
                    <a:p>
                      <a:pPr lvl="0" indent="0" marL="0">
                        <a:buNone/>
                      </a:pPr>
                      <a:r>
                        <a:rPr/>
                        <a:t>3.2</a:t>
                      </a:r>
                    </a:p>
                  </a:txBody>
                </a:tc>
                <a:tc>
                  <a:txBody>
                    <a:bodyPr/>
                    <a:lstStyle/>
                    <a:p>
                      <a:pPr lvl="0" indent="0" marL="0">
                        <a:buNone/>
                      </a:pPr>
                      <a:r>
                        <a:rPr/>
                        <a:t>28.8</a:t>
                      </a:r>
                    </a:p>
                  </a:txBody>
                </a:tc>
                <a:tc>
                  <a:txBody>
                    <a:bodyPr/>
                    <a:lstStyle/>
                    <a:p>
                      <a:pPr lvl="0" indent="0" marL="0">
                        <a:buNone/>
                      </a:pPr>
                      <a:r>
                        <a:rPr/>
                        <a:t>28.44</a:t>
                      </a:r>
                    </a:p>
                  </a:txBody>
                </a:tc>
                <a:tc>
                  <a:txBody>
                    <a:bodyPr/>
                    <a:lstStyle/>
                    <a:p>
                      <a:pPr lvl="0" indent="0" marL="0">
                        <a:buNone/>
                      </a:pPr>
                      <a:r>
                        <a:rPr/>
                        <a:t>water tupelo</a:t>
                      </a:r>
                    </a:p>
                  </a:txBody>
                </a:tc>
              </a:tr>
              <a:tr h="0">
                <a:tc>
                  <a:txBody>
                    <a:bodyPr/>
                    <a:lstStyle/>
                    <a:p>
                      <a:pPr lvl="0" indent="0" marL="0">
                        <a:buNone/>
                      </a:pPr>
                      <a:r>
                        <a:rPr/>
                        <a:t>137037</a:t>
                      </a:r>
                    </a:p>
                  </a:txBody>
                </a:tc>
                <a:tc>
                  <a:txBody>
                    <a:bodyPr/>
                    <a:lstStyle/>
                    <a:p>
                      <a:pPr lvl="0" indent="0" marL="0">
                        <a:buNone/>
                      </a:pPr>
                      <a:r>
                        <a:rPr/>
                        <a:t>691</a:t>
                      </a:r>
                    </a:p>
                  </a:txBody>
                </a:tc>
                <a:tc>
                  <a:txBody>
                    <a:bodyPr/>
                    <a:lstStyle/>
                    <a:p>
                      <a:pPr lvl="0" indent="0" marL="0">
                        <a:buNone/>
                      </a:pPr>
                      <a:r>
                        <a:rPr/>
                        <a:t>4.7</a:t>
                      </a:r>
                    </a:p>
                  </a:txBody>
                </a:tc>
                <a:tc>
                  <a:txBody>
                    <a:bodyPr/>
                    <a:lstStyle/>
                    <a:p>
                      <a:pPr lvl="0" indent="0" marL="0">
                        <a:buNone/>
                      </a:pPr>
                      <a:r>
                        <a:rPr/>
                        <a:t>31.4</a:t>
                      </a:r>
                    </a:p>
                  </a:txBody>
                </a:tc>
                <a:tc>
                  <a:txBody>
                    <a:bodyPr/>
                    <a:lstStyle/>
                    <a:p>
                      <a:pPr lvl="0" indent="0" marL="0">
                        <a:buNone/>
                      </a:pPr>
                      <a:r>
                        <a:rPr/>
                        <a:t>73.78</a:t>
                      </a:r>
                    </a:p>
                  </a:txBody>
                </a:tc>
                <a:tc>
                  <a:txBody>
                    <a:bodyPr/>
                    <a:lstStyle/>
                    <a:p>
                      <a:pPr lvl="0" indent="0" marL="0">
                        <a:buNone/>
                      </a:pPr>
                      <a:r>
                        <a:rPr/>
                        <a:t>water tupelo</a:t>
                      </a:r>
                    </a:p>
                  </a:txBody>
                </a:tc>
              </a:tr>
              <a:tr h="0">
                <a:tc>
                  <a:txBody>
                    <a:bodyPr/>
                    <a:lstStyle/>
                    <a:p>
                      <a:pPr lvl="0" indent="0" marL="0">
                        <a:buNone/>
                      </a:pPr>
                      <a:r>
                        <a:rPr/>
                        <a:t>137038</a:t>
                      </a:r>
                    </a:p>
                  </a:txBody>
                </a:tc>
                <a:tc>
                  <a:txBody>
                    <a:bodyPr/>
                    <a:lstStyle/>
                    <a:p>
                      <a:pPr lvl="0" indent="0" marL="0">
                        <a:buNone/>
                      </a:pPr>
                      <a:r>
                        <a:rPr/>
                        <a:t>691</a:t>
                      </a:r>
                    </a:p>
                  </a:txBody>
                </a:tc>
                <a:tc>
                  <a:txBody>
                    <a:bodyPr/>
                    <a:lstStyle/>
                    <a:p>
                      <a:pPr lvl="0" indent="0" marL="0">
                        <a:buNone/>
                      </a:pPr>
                      <a:r>
                        <a:rPr/>
                        <a:t>4.4</a:t>
                      </a:r>
                    </a:p>
                  </a:txBody>
                </a:tc>
                <a:tc>
                  <a:txBody>
                    <a:bodyPr/>
                    <a:lstStyle/>
                    <a:p>
                      <a:pPr lvl="0" indent="0" marL="0">
                        <a:buNone/>
                      </a:pPr>
                      <a:r>
                        <a:rPr/>
                        <a:t>26.9</a:t>
                      </a:r>
                    </a:p>
                  </a:txBody>
                </a:tc>
                <a:tc>
                  <a:txBody>
                    <a:bodyPr/>
                    <a:lstStyle/>
                    <a:p>
                      <a:pPr lvl="0" indent="0" marL="0">
                        <a:buNone/>
                      </a:pPr>
                      <a:r>
                        <a:rPr/>
                        <a:t>62.64</a:t>
                      </a:r>
                    </a:p>
                  </a:txBody>
                </a:tc>
                <a:tc>
                  <a:txBody>
                    <a:bodyPr/>
                    <a:lstStyle/>
                    <a:p>
                      <a:pPr lvl="0" indent="0" marL="0">
                        <a:buNone/>
                      </a:pPr>
                      <a:r>
                        <a:rPr/>
                        <a:t>water tupelo</a:t>
                      </a:r>
                    </a:p>
                  </a:txBody>
                </a:tc>
              </a:tr>
              <a:tr h="0">
                <a:tc>
                  <a:txBody>
                    <a:bodyPr/>
                    <a:lstStyle/>
                    <a:p>
                      <a:pPr lvl="0" indent="0" marL="0">
                        <a:buNone/>
                      </a:pPr>
                      <a:r>
                        <a:rPr/>
                        <a:t>137039</a:t>
                      </a:r>
                    </a:p>
                  </a:txBody>
                </a:tc>
                <a:tc>
                  <a:txBody>
                    <a:bodyPr/>
                    <a:lstStyle/>
                    <a:p>
                      <a:pPr lvl="0" indent="0" marL="0">
                        <a:buNone/>
                      </a:pPr>
                      <a:r>
                        <a:rPr/>
                        <a:t>691</a:t>
                      </a:r>
                    </a:p>
                  </a:txBody>
                </a:tc>
                <a:tc>
                  <a:txBody>
                    <a:bodyPr/>
                    <a:lstStyle/>
                    <a:p>
                      <a:pPr lvl="0" indent="0" marL="0">
                        <a:buNone/>
                      </a:pPr>
                      <a:r>
                        <a:rPr/>
                        <a:t>4.2</a:t>
                      </a:r>
                    </a:p>
                  </a:txBody>
                </a:tc>
                <a:tc>
                  <a:txBody>
                    <a:bodyPr/>
                    <a:lstStyle/>
                    <a:p>
                      <a:pPr lvl="0" indent="0" marL="0">
                        <a:buNone/>
                      </a:pPr>
                      <a:r>
                        <a:rPr/>
                        <a:t>28.1</a:t>
                      </a:r>
                    </a:p>
                  </a:txBody>
                </a:tc>
                <a:tc>
                  <a:txBody>
                    <a:bodyPr/>
                    <a:lstStyle/>
                    <a:p>
                      <a:pPr lvl="0" indent="0" marL="0">
                        <a:buNone/>
                      </a:pPr>
                      <a:r>
                        <a:rPr/>
                        <a:t>55.82</a:t>
                      </a:r>
                    </a:p>
                  </a:txBody>
                </a:tc>
                <a:tc>
                  <a:txBody>
                    <a:bodyPr/>
                    <a:lstStyle/>
                    <a:p>
                      <a:pPr lvl="0" indent="0" marL="0">
                        <a:buNone/>
                      </a:pPr>
                      <a:r>
                        <a:rPr/>
                        <a:t>water tupelo</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Base datset calculations:</a:t>
            </a:r>
          </a:p>
        </p:txBody>
      </p:sp>
      <p:sp>
        <p:nvSpPr>
          <p:cNvPr id="3" name="Content Placeholder 2"/>
          <p:cNvSpPr>
            <a:spLocks noGrp="1"/>
          </p:cNvSpPr>
          <p:nvPr>
            <p:ph idx="1"/>
          </p:nvPr>
        </p:nvSpPr>
        <p:spPr/>
        <p:txBody>
          <a:bodyPr/>
          <a:lstStyle/>
          <a:p>
            <a:pPr lvl="0" indent="0">
              <a:buNone/>
            </a:pPr>
            <a:r>
              <a:rPr>
                <a:latin typeface="Courier"/>
              </a:rPr>
              <a:t>Average Root Mean Squared Log Error (RMSLE) for k = 3: 0.15805917967387384</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2025-12-15T00:52:26Z</dcterms:created>
  <dcterms:modified xsi:type="dcterms:W3CDTF">2025-12-15T00:52:26Z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