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8" Type="http://schemas.openxmlformats.org/officeDocument/2006/relationships/viewProps" Target="viewProps.xml" /><Relationship Id="rId17" Type="http://schemas.openxmlformats.org/officeDocument/2006/relationships/presProps" Target="presProps.xml" /><Relationship Id="rId1" Type="http://schemas.openxmlformats.org/officeDocument/2006/relationships/slideMaster" Target="slideMasters/slideMaster1.xml" /><Relationship Id="rId20" Type="http://schemas.openxmlformats.org/officeDocument/2006/relationships/tableStyles" Target="tableStyles.xml" /><Relationship Id="rId19"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1.png"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2.png"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3.png"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4.png"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Redwood Analytics Project 3</a:t>
            </a:r>
          </a:p>
        </p:txBody>
      </p:sp>
      <p:sp>
        <p:nvSpPr>
          <p:cNvPr id="3" name="Subtitle 2"/>
          <p:cNvSpPr>
            <a:spLocks noGrp="1"/>
          </p:cNvSpPr>
          <p:nvPr>
            <p:ph idx="1" type="subTitle"/>
          </p:nvPr>
        </p:nvSpPr>
        <p:spPr>
          <a:xfrm>
            <a:off x="1371600" y="2914650"/>
            <a:ext cx="6400800" cy="1314450"/>
          </a:xfrm>
        </p:spPr>
        <p:txBody>
          <a:bodyPr/>
          <a:lstStyle/>
          <a:p>
            <a:pPr lvl="0" indent="0" marL="0">
              <a:buNone/>
            </a:pPr>
            <a:br/>
            <a:b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#Redwood Analytics Project 3</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Data Dictionary</a:t>
            </a:r>
          </a:p>
        </p:txBody>
      </p:sp>
      <p:sp>
        <p:nvSpPr>
          <p:cNvPr id="3" name="Content Placeholder 2"/>
          <p:cNvSpPr>
            <a:spLocks noGrp="1"/>
          </p:cNvSpPr>
          <p:nvPr>
            <p:ph idx="1"/>
          </p:nvPr>
        </p:nvSpPr>
        <p:spPr/>
        <p:txBody>
          <a:bodyPr/>
          <a:lstStyle/>
          <a:p>
            <a:pPr lvl="0"/>
            <a:r>
              <a:rPr/>
              <a:t>SPCD (Species Code): A numeric code which unqiuely identifies each tree species as specifed by the FIA (Forest Inventory and Analysis) species coding system. Each FIA species code corresponds uniquely to a scientific and common name. (Official definition: FIA species code.)</a:t>
            </a:r>
          </a:p>
          <a:p>
            <a:pPr lvl="0"/>
            <a:r>
              <a:rPr/>
              <a:t>DO_BH (Diameter at Breast Height [Outside Bark]): Diameter of the tree stem measured at breast height (4.5 feet or 1.37 meters above ground) including bark. This is the standard foresty measurement “DBH (outside bark)” and is the primary size variable used in nearly all allometric biomass models. This is measured in inches.</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Data Dictionary Continued</a:t>
            </a:r>
          </a:p>
        </p:txBody>
      </p:sp>
      <p:sp>
        <p:nvSpPr>
          <p:cNvPr id="3" name="Content Placeholder 2"/>
          <p:cNvSpPr>
            <a:spLocks noGrp="1"/>
          </p:cNvSpPr>
          <p:nvPr>
            <p:ph idx="1"/>
          </p:nvPr>
        </p:nvSpPr>
        <p:spPr/>
        <p:txBody>
          <a:bodyPr/>
          <a:lstStyle/>
          <a:p>
            <a:pPr lvl="0"/>
            <a:r>
              <a:rPr/>
              <a:t>HT_TOT (Total Tree Height): The total height of the tree measured from ground level to the top of the crown. Used as a second size metric in volume and biomass modeling.This is measured in feet.</a:t>
            </a:r>
          </a:p>
          <a:p>
            <a:pPr lvl="0" indent="0" marL="0">
              <a:buNone/>
            </a:pPr>
            <a:r>
              <a:rPr/>
              <a:t>-TT_DW_CRM (Total Tree Dry Biomass): The total above-ground dry weight of the tree (includes stem wood, stem bark, branches, folliage). This value comes from destructive sampling: the tree was felled, seperated into componenets, oven-dried, and weighed. This variable serves as the response variable (“target”) from biomass prediction. This is measured in kilograms.</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Univariate Visualizations</a:t>
            </a:r>
          </a:p>
        </p:txBody>
      </p:sp>
      <p:pic>
        <p:nvPicPr>
          <p:cNvPr descr="presentation_files/figure-pptx/cell-3-output-1.png" id="0" name="Picture 1"/>
          <p:cNvPicPr>
            <a:picLocks noGrp="1" noChangeAspect="1"/>
          </p:cNvPicPr>
          <p:nvPr/>
        </p:nvPicPr>
        <p:blipFill>
          <a:blip r:embed="rId2"/>
          <a:stretch>
            <a:fillRect/>
          </a:stretch>
        </p:blipFill>
        <p:spPr bwMode="auto">
          <a:xfrm>
            <a:off x="1346200" y="1193800"/>
            <a:ext cx="6451600" cy="3390900"/>
          </a:xfrm>
          <a:prstGeom prst="rect">
            <a:avLst/>
          </a:prstGeom>
          <a:noFill/>
          <a:ln w="9525">
            <a:noFill/>
            <a:headEnd/>
            <a:tailEnd/>
          </a:ln>
        </p:spPr>
      </p:pic>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Bivariate Visualizations</a:t>
            </a:r>
          </a:p>
        </p:txBody>
      </p:sp>
      <p:pic>
        <p:nvPicPr>
          <p:cNvPr descr="presentation_files/figure-pptx/cell-4-output-1.png" id="0" name="Picture 1"/>
          <p:cNvPicPr>
            <a:picLocks noGrp="1" noChangeAspect="1"/>
          </p:cNvPicPr>
          <p:nvPr/>
        </p:nvPicPr>
        <p:blipFill>
          <a:blip r:embed="rId2"/>
          <a:stretch>
            <a:fillRect/>
          </a:stretch>
        </p:blipFill>
        <p:spPr bwMode="auto">
          <a:xfrm>
            <a:off x="1397000" y="1193800"/>
            <a:ext cx="6350000" cy="3390900"/>
          </a:xfrm>
          <a:prstGeom prst="rect">
            <a:avLst/>
          </a:prstGeom>
          <a:noFill/>
          <a:ln w="9525">
            <a:noFill/>
            <a:headEnd/>
            <a:tailEnd/>
          </a:ln>
        </p:spPr>
      </p:pic>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Additional Visualizations</a:t>
            </a:r>
          </a:p>
        </p:txBody>
      </p:sp>
      <p:pic>
        <p:nvPicPr>
          <p:cNvPr descr="presentation_files/figure-pptx/cell-5-output-1.png" id="0" name="Picture 1"/>
          <p:cNvPicPr>
            <a:picLocks noGrp="1" noChangeAspect="1"/>
          </p:cNvPicPr>
          <p:nvPr/>
        </p:nvPicPr>
        <p:blipFill>
          <a:blip r:embed="rId2"/>
          <a:stretch>
            <a:fillRect/>
          </a:stretch>
        </p:blipFill>
        <p:spPr bwMode="auto">
          <a:xfrm>
            <a:off x="1155700" y="1193800"/>
            <a:ext cx="6832600" cy="3390900"/>
          </a:xfrm>
          <a:prstGeom prst="rect">
            <a:avLst/>
          </a:prstGeom>
          <a:noFill/>
          <a:ln w="9525">
            <a:noFill/>
            <a:headEnd/>
            <a:tailEnd/>
          </a:ln>
        </p:spPr>
      </p:pic>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Additional Visualizations</a:t>
            </a:r>
          </a:p>
        </p:txBody>
      </p:sp>
      <p:pic>
        <p:nvPicPr>
          <p:cNvPr descr="presentation_files/figure-pptx/cell-6-output-1.png" id="0" name="Picture 1"/>
          <p:cNvPicPr>
            <a:picLocks noGrp="1" noChangeAspect="1"/>
          </p:cNvPicPr>
          <p:nvPr/>
        </p:nvPicPr>
        <p:blipFill>
          <a:blip r:embed="rId2"/>
          <a:stretch>
            <a:fillRect/>
          </a:stretch>
        </p:blipFill>
        <p:spPr bwMode="auto">
          <a:xfrm>
            <a:off x="1295400" y="1193800"/>
            <a:ext cx="6553200" cy="3390900"/>
          </a:xfrm>
          <a:prstGeom prst="rect">
            <a:avLst/>
          </a:prstGeom>
          <a:noFill/>
          <a:ln w="9525">
            <a:noFill/>
            <a:headEnd/>
            <a:tailEnd/>
          </a:ln>
        </p:spPr>
      </p:pic>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Domain Expert 3 (Explain the inputs and settings for the best model)</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Performace Metric</a:t>
            </a:r>
          </a:p>
        </p:txBody>
      </p:sp>
      <p:sp>
        <p:nvSpPr>
          <p:cNvPr id="3" name="Content Placeholder 2"/>
          <p:cNvSpPr>
            <a:spLocks noGrp="1"/>
          </p:cNvSpPr>
          <p:nvPr>
            <p:ph idx="1"/>
          </p:nvPr>
        </p:nvSpPr>
        <p:spPr/>
        <p:txBody>
          <a:bodyPr/>
          <a:lstStyle/>
          <a:p>
            <a:pPr lvl="0" indent="0" marL="0">
              <a:buNone/>
            </a:pPr>
            <a:r>
              <a:rPr/>
              <a:t>The Performance metric we choose is Root Mean Square Logarithmic Error(RMSLE), because when we were looking at the dataset of the biomass of different kinds of tree species, we saw that some species have more data than other species so the assume that the data is skewed</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Model</a:t>
            </a:r>
          </a:p>
        </p:txBody>
      </p:sp>
      <p:graphicFrame>
        <p:nvGraphicFramePr>
          <p:cNvPr id="6" name="Content Placeholder 5"/>
          <p:cNvGraphicFramePr>
            <a:graphicFrameLocks noGrp="1"/>
          </p:cNvGraphicFramePr>
          <p:nvPr>
            <p:ph idx="1"/>
          </p:nvPr>
        </p:nvGraphicFramePr>
        <p:xfrm>
          <a:off x="457200" y="1193800"/>
          <a:ext cx="8229600" cy="3390900"/>
        </p:xfrm>
        <a:graphic>
          <a:graphicData uri="http://schemas.openxmlformats.org/drawingml/2006/table">
            <a:tbl>
              <a:tblPr firstRow="1" bandRow="1">
                <a:tableStyleId>{5C22544A-7EE6-4342-B048-85BDC9FD1C3A}</a:tableStyleId>
              </a:tblPr>
              <a:tblGrid>
                <a:gridCol w="1371600"/>
                <a:gridCol w="1371600"/>
                <a:gridCol w="1371600"/>
                <a:gridCol w="1371600"/>
                <a:gridCol w="1371600"/>
                <a:gridCol w="1371600"/>
              </a:tblGrid>
              <a:tr h="0">
                <a:tc>
                  <a:txBody>
                    <a:bodyPr/>
                    <a:lstStyle/>
                    <a:p>
                      <a:endParaRPr/>
                    </a:p>
                  </a:txBody>
                  <a:tcPr/>
                </a:tc>
                <a:tc>
                  <a:txBody>
                    <a:bodyPr/>
                    <a:lstStyle/>
                    <a:p>
                      <a:pPr lvl="0" indent="0" marL="0">
                        <a:buNone/>
                      </a:pPr>
                      <a:r>
                        <a:rPr/>
                        <a:t>Species</a:t>
                      </a:r>
                    </a:p>
                  </a:txBody>
                  <a:tcPr/>
                </a:tc>
                <a:tc>
                  <a:txBody>
                    <a:bodyPr/>
                    <a:lstStyle/>
                    <a:p>
                      <a:pPr lvl="0" indent="0" marL="0">
                        <a:buNone/>
                      </a:pPr>
                      <a:r>
                        <a:rPr/>
                        <a:t>k</a:t>
                      </a:r>
                    </a:p>
                  </a:txBody>
                  <a:tcPr/>
                </a:tc>
                <a:tc>
                  <a:txBody>
                    <a:bodyPr/>
                    <a:lstStyle/>
                    <a:p>
                      <a:pPr lvl="0" indent="0" marL="0">
                        <a:buNone/>
                      </a:pPr>
                      <a:r>
                        <a:rPr/>
                        <a:t>RMSE</a:t>
                      </a:r>
                    </a:p>
                  </a:txBody>
                  <a:tcPr/>
                </a:tc>
                <a:tc>
                  <a:txBody>
                    <a:bodyPr/>
                    <a:lstStyle/>
                    <a:p>
                      <a:pPr lvl="0" indent="0" marL="0">
                        <a:buNone/>
                      </a:pPr>
                      <a:r>
                        <a:rPr/>
                        <a:t>MAE</a:t>
                      </a:r>
                    </a:p>
                  </a:txBody>
                  <a:tcPr/>
                </a:tc>
                <a:tc>
                  <a:txBody>
                    <a:bodyPr/>
                    <a:lstStyle/>
                    <a:p>
                      <a:pPr lvl="0" indent="0" marL="0">
                        <a:buNone/>
                      </a:pPr>
                      <a:r>
                        <a:rPr/>
                        <a:t>RMSLE</a:t>
                      </a:r>
                    </a:p>
                  </a:txBody>
                  <a:tcPr/>
                </a:tc>
              </a:tr>
              <a:tr h="0">
                <a:tc>
                  <a:txBody>
                    <a:bodyPr/>
                    <a:lstStyle/>
                    <a:p>
                      <a:pPr lvl="0" indent="0" marL="0">
                        <a:buNone/>
                      </a:pPr>
                      <a:r>
                        <a:rPr/>
                        <a:t>0</a:t>
                      </a:r>
                    </a:p>
                  </a:txBody>
                </a:tc>
                <a:tc>
                  <a:txBody>
                    <a:bodyPr/>
                    <a:lstStyle/>
                    <a:p>
                      <a:pPr lvl="0" indent="0" marL="0">
                        <a:buNone/>
                      </a:pPr>
                      <a:r>
                        <a:rPr/>
                        <a:t>balsam fir</a:t>
                      </a:r>
                    </a:p>
                  </a:txBody>
                </a:tc>
                <a:tc>
                  <a:txBody>
                    <a:bodyPr/>
                    <a:lstStyle/>
                    <a:p>
                      <a:pPr lvl="0" indent="0" marL="0">
                        <a:buNone/>
                      </a:pPr>
                      <a:r>
                        <a:rPr/>
                        <a:t>2</a:t>
                      </a:r>
                    </a:p>
                  </a:txBody>
                </a:tc>
                <a:tc>
                  <a:txBody>
                    <a:bodyPr/>
                    <a:lstStyle/>
                    <a:p>
                      <a:pPr lvl="0" indent="0" marL="0">
                        <a:buNone/>
                      </a:pPr>
                      <a:r>
                        <a:rPr/>
                        <a:t>125.827396</a:t>
                      </a:r>
                    </a:p>
                  </a:txBody>
                </a:tc>
                <a:tc>
                  <a:txBody>
                    <a:bodyPr/>
                    <a:lstStyle/>
                    <a:p>
                      <a:pPr lvl="0" indent="0" marL="0">
                        <a:buNone/>
                      </a:pPr>
                      <a:r>
                        <a:rPr/>
                        <a:t>34.820565</a:t>
                      </a:r>
                    </a:p>
                  </a:txBody>
                </a:tc>
                <a:tc>
                  <a:txBody>
                    <a:bodyPr/>
                    <a:lstStyle/>
                    <a:p>
                      <a:pPr lvl="0" indent="0" marL="0">
                        <a:buNone/>
                      </a:pPr>
                      <a:r>
                        <a:rPr/>
                        <a:t>0.119617</a:t>
                      </a:r>
                    </a:p>
                  </a:txBody>
                </a:tc>
              </a:tr>
              <a:tr h="0">
                <a:tc>
                  <a:txBody>
                    <a:bodyPr/>
                    <a:lstStyle/>
                    <a:p>
                      <a:pPr lvl="0" indent="0" marL="0">
                        <a:buNone/>
                      </a:pPr>
                      <a:r>
                        <a:rPr/>
                        <a:t>1</a:t>
                      </a:r>
                    </a:p>
                  </a:txBody>
                </a:tc>
                <a:tc>
                  <a:txBody>
                    <a:bodyPr/>
                    <a:lstStyle/>
                    <a:p>
                      <a:pPr lvl="0" indent="0" marL="0">
                        <a:buNone/>
                      </a:pPr>
                      <a:r>
                        <a:rPr/>
                        <a:t>balsam fir</a:t>
                      </a:r>
                    </a:p>
                  </a:txBody>
                </a:tc>
                <a:tc>
                  <a:txBody>
                    <a:bodyPr/>
                    <a:lstStyle/>
                    <a:p>
                      <a:pPr lvl="0" indent="0" marL="0">
                        <a:buNone/>
                      </a:pPr>
                      <a:r>
                        <a:rPr/>
                        <a:t>3</a:t>
                      </a:r>
                    </a:p>
                  </a:txBody>
                </a:tc>
                <a:tc>
                  <a:txBody>
                    <a:bodyPr/>
                    <a:lstStyle/>
                    <a:p>
                      <a:pPr lvl="0" indent="0" marL="0">
                        <a:buNone/>
                      </a:pPr>
                      <a:r>
                        <a:rPr/>
                        <a:t>129.650855</a:t>
                      </a:r>
                    </a:p>
                  </a:txBody>
                </a:tc>
                <a:tc>
                  <a:txBody>
                    <a:bodyPr/>
                    <a:lstStyle/>
                    <a:p>
                      <a:pPr lvl="0" indent="0" marL="0">
                        <a:buNone/>
                      </a:pPr>
                      <a:r>
                        <a:rPr/>
                        <a:t>36.628377</a:t>
                      </a:r>
                    </a:p>
                  </a:txBody>
                </a:tc>
                <a:tc>
                  <a:txBody>
                    <a:bodyPr/>
                    <a:lstStyle/>
                    <a:p>
                      <a:pPr lvl="0" indent="0" marL="0">
                        <a:buNone/>
                      </a:pPr>
                      <a:r>
                        <a:rPr/>
                        <a:t>0.123679</a:t>
                      </a:r>
                    </a:p>
                  </a:txBody>
                </a:tc>
              </a:tr>
              <a:tr h="0">
                <a:tc>
                  <a:txBody>
                    <a:bodyPr/>
                    <a:lstStyle/>
                    <a:p>
                      <a:pPr lvl="0" indent="0" marL="0">
                        <a:buNone/>
                      </a:pPr>
                      <a:r>
                        <a:rPr/>
                        <a:t>2</a:t>
                      </a:r>
                    </a:p>
                  </a:txBody>
                </a:tc>
                <a:tc>
                  <a:txBody>
                    <a:bodyPr/>
                    <a:lstStyle/>
                    <a:p>
                      <a:pPr lvl="0" indent="0" marL="0">
                        <a:buNone/>
                      </a:pPr>
                      <a:r>
                        <a:rPr/>
                        <a:t>balsam fir</a:t>
                      </a:r>
                    </a:p>
                  </a:txBody>
                </a:tc>
                <a:tc>
                  <a:txBody>
                    <a:bodyPr/>
                    <a:lstStyle/>
                    <a:p>
                      <a:pPr lvl="0" indent="0" marL="0">
                        <a:buNone/>
                      </a:pPr>
                      <a:r>
                        <a:rPr/>
                        <a:t>4</a:t>
                      </a:r>
                    </a:p>
                  </a:txBody>
                </a:tc>
                <a:tc>
                  <a:txBody>
                    <a:bodyPr/>
                    <a:lstStyle/>
                    <a:p>
                      <a:pPr lvl="0" indent="0" marL="0">
                        <a:buNone/>
                      </a:pPr>
                      <a:r>
                        <a:rPr/>
                        <a:t>134.599829</a:t>
                      </a:r>
                    </a:p>
                  </a:txBody>
                </a:tc>
                <a:tc>
                  <a:txBody>
                    <a:bodyPr/>
                    <a:lstStyle/>
                    <a:p>
                      <a:pPr lvl="0" indent="0" marL="0">
                        <a:buNone/>
                      </a:pPr>
                      <a:r>
                        <a:rPr/>
                        <a:t>38.884870</a:t>
                      </a:r>
                    </a:p>
                  </a:txBody>
                </a:tc>
                <a:tc>
                  <a:txBody>
                    <a:bodyPr/>
                    <a:lstStyle/>
                    <a:p>
                      <a:pPr lvl="0" indent="0" marL="0">
                        <a:buNone/>
                      </a:pPr>
                      <a:r>
                        <a:rPr/>
                        <a:t>0.133858</a:t>
                      </a:r>
                    </a:p>
                  </a:txBody>
                </a:tc>
              </a:tr>
              <a:tr h="0">
                <a:tc>
                  <a:txBody>
                    <a:bodyPr/>
                    <a:lstStyle/>
                    <a:p>
                      <a:pPr lvl="0" indent="0" marL="0">
                        <a:buNone/>
                      </a:pPr>
                      <a:r>
                        <a:rPr/>
                        <a:t>3</a:t>
                      </a:r>
                    </a:p>
                  </a:txBody>
                </a:tc>
                <a:tc>
                  <a:txBody>
                    <a:bodyPr/>
                    <a:lstStyle/>
                    <a:p>
                      <a:pPr lvl="0" indent="0" marL="0">
                        <a:buNone/>
                      </a:pPr>
                      <a:r>
                        <a:rPr/>
                        <a:t>balsam fir</a:t>
                      </a:r>
                    </a:p>
                  </a:txBody>
                </a:tc>
                <a:tc>
                  <a:txBody>
                    <a:bodyPr/>
                    <a:lstStyle/>
                    <a:p>
                      <a:pPr lvl="0" indent="0" marL="0">
                        <a:buNone/>
                      </a:pPr>
                      <a:r>
                        <a:rPr/>
                        <a:t>5</a:t>
                      </a:r>
                    </a:p>
                  </a:txBody>
                </a:tc>
                <a:tc>
                  <a:txBody>
                    <a:bodyPr/>
                    <a:lstStyle/>
                    <a:p>
                      <a:pPr lvl="0" indent="0" marL="0">
                        <a:buNone/>
                      </a:pPr>
                      <a:r>
                        <a:rPr/>
                        <a:t>145.002852</a:t>
                      </a:r>
                    </a:p>
                  </a:txBody>
                </a:tc>
                <a:tc>
                  <a:txBody>
                    <a:bodyPr/>
                    <a:lstStyle/>
                    <a:p>
                      <a:pPr lvl="0" indent="0" marL="0">
                        <a:buNone/>
                      </a:pPr>
                      <a:r>
                        <a:rPr/>
                        <a:t>41.168470</a:t>
                      </a:r>
                    </a:p>
                  </a:txBody>
                </a:tc>
                <a:tc>
                  <a:txBody>
                    <a:bodyPr/>
                    <a:lstStyle/>
                    <a:p>
                      <a:pPr lvl="0" indent="0" marL="0">
                        <a:buNone/>
                      </a:pPr>
                      <a:r>
                        <a:rPr/>
                        <a:t>0.144052</a:t>
                      </a:r>
                    </a:p>
                  </a:txBody>
                </a:tc>
              </a:tr>
              <a:tr h="0">
                <a:tc>
                  <a:txBody>
                    <a:bodyPr/>
                    <a:lstStyle/>
                    <a:p>
                      <a:pPr lvl="0" indent="0" marL="0">
                        <a:buNone/>
                      </a:pPr>
                      <a:r>
                        <a:rPr/>
                        <a:t>4</a:t>
                      </a:r>
                    </a:p>
                  </a:txBody>
                </a:tc>
                <a:tc>
                  <a:txBody>
                    <a:bodyPr/>
                    <a:lstStyle/>
                    <a:p>
                      <a:pPr lvl="0" indent="0" marL="0">
                        <a:buNone/>
                      </a:pPr>
                      <a:r>
                        <a:rPr/>
                        <a:t>balsam fir</a:t>
                      </a:r>
                    </a:p>
                  </a:txBody>
                </a:tc>
                <a:tc>
                  <a:txBody>
                    <a:bodyPr/>
                    <a:lstStyle/>
                    <a:p>
                      <a:pPr lvl="0" indent="0" marL="0">
                        <a:buNone/>
                      </a:pPr>
                      <a:r>
                        <a:rPr/>
                        <a:t>6</a:t>
                      </a:r>
                    </a:p>
                  </a:txBody>
                </a:tc>
                <a:tc>
                  <a:txBody>
                    <a:bodyPr/>
                    <a:lstStyle/>
                    <a:p>
                      <a:pPr lvl="0" indent="0" marL="0">
                        <a:buNone/>
                      </a:pPr>
                      <a:r>
                        <a:rPr/>
                        <a:t>147.449208</a:t>
                      </a:r>
                    </a:p>
                  </a:txBody>
                </a:tc>
                <a:tc>
                  <a:txBody>
                    <a:bodyPr/>
                    <a:lstStyle/>
                    <a:p>
                      <a:pPr lvl="0" indent="0" marL="0">
                        <a:buNone/>
                      </a:pPr>
                      <a:r>
                        <a:rPr/>
                        <a:t>40.728609</a:t>
                      </a:r>
                    </a:p>
                  </a:txBody>
                </a:tc>
                <a:tc>
                  <a:txBody>
                    <a:bodyPr/>
                    <a:lstStyle/>
                    <a:p>
                      <a:pPr lvl="0" indent="0" marL="0">
                        <a:buNone/>
                      </a:pPr>
                      <a:r>
                        <a:rPr/>
                        <a:t>0.142813</a:t>
                      </a:r>
                    </a:p>
                  </a:txBody>
                </a:tc>
              </a:tr>
              <a:tr h="0">
                <a:tc>
                  <a:txBody>
                    <a:bodyPr/>
                    <a:lstStyle/>
                    <a:p>
                      <a:pPr lvl="0" indent="0" marL="0">
                        <a:buNone/>
                      </a:pPr>
                      <a:r>
                        <a:rPr/>
                        <a:t>...</a:t>
                      </a:r>
                    </a:p>
                  </a:txBody>
                </a:tc>
                <a:tc>
                  <a:txBody>
                    <a:bodyPr/>
                    <a:lstStyle/>
                    <a:p>
                      <a:pPr lvl="0" indent="0" marL="0">
                        <a:buNone/>
                      </a:pPr>
                      <a:r>
                        <a:rPr/>
                        <a:t>...</a:t>
                      </a:r>
                    </a:p>
                  </a:txBody>
                </a:tc>
                <a:tc>
                  <a:txBody>
                    <a:bodyPr/>
                    <a:lstStyle/>
                    <a:p>
                      <a:pPr lvl="0" indent="0" marL="0">
                        <a:buNone/>
                      </a:pPr>
                      <a:r>
                        <a:rPr/>
                        <a:t>...</a:t>
                      </a:r>
                    </a:p>
                  </a:txBody>
                </a:tc>
                <a:tc>
                  <a:txBody>
                    <a:bodyPr/>
                    <a:lstStyle/>
                    <a:p>
                      <a:pPr lvl="0" indent="0" marL="0">
                        <a:buNone/>
                      </a:pPr>
                      <a:r>
                        <a:rPr/>
                        <a:t>...</a:t>
                      </a:r>
                    </a:p>
                  </a:txBody>
                </a:tc>
                <a:tc>
                  <a:txBody>
                    <a:bodyPr/>
                    <a:lstStyle/>
                    <a:p>
                      <a:pPr lvl="0" indent="0" marL="0">
                        <a:buNone/>
                      </a:pPr>
                      <a:r>
                        <a:rPr/>
                        <a:t>...</a:t>
                      </a:r>
                    </a:p>
                  </a:txBody>
                </a:tc>
                <a:tc>
                  <a:txBody>
                    <a:bodyPr/>
                    <a:lstStyle/>
                    <a:p>
                      <a:pPr lvl="0" indent="0" marL="0">
                        <a:buNone/>
                      </a:pPr>
                      <a:r>
                        <a:rPr/>
                        <a:t>...</a:t>
                      </a:r>
                    </a:p>
                  </a:txBody>
                </a:tc>
              </a:tr>
              <a:tr h="0">
                <a:tc>
                  <a:txBody>
                    <a:bodyPr/>
                    <a:lstStyle/>
                    <a:p>
                      <a:pPr lvl="0" indent="0" marL="0">
                        <a:buNone/>
                      </a:pPr>
                      <a:r>
                        <a:rPr/>
                        <a:t>895</a:t>
                      </a:r>
                    </a:p>
                  </a:txBody>
                </a:tc>
                <a:tc>
                  <a:txBody>
                    <a:bodyPr/>
                    <a:lstStyle/>
                    <a:p>
                      <a:pPr lvl="0" indent="0" marL="0">
                        <a:buNone/>
                      </a:pPr>
                      <a:r>
                        <a:rPr/>
                        <a:t>sugarberry</a:t>
                      </a:r>
                    </a:p>
                  </a:txBody>
                </a:tc>
                <a:tc>
                  <a:txBody>
                    <a:bodyPr/>
                    <a:lstStyle/>
                    <a:p>
                      <a:pPr lvl="0" indent="0" marL="0">
                        <a:buNone/>
                      </a:pPr>
                      <a:r>
                        <a:rPr/>
                        <a:t>6</a:t>
                      </a:r>
                    </a:p>
                  </a:txBody>
                </a:tc>
                <a:tc>
                  <a:txBody>
                    <a:bodyPr/>
                    <a:lstStyle/>
                    <a:p>
                      <a:pPr lvl="0" indent="0" marL="0">
                        <a:buNone/>
                      </a:pPr>
                      <a:r>
                        <a:rPr/>
                        <a:t>32.431052</a:t>
                      </a:r>
                    </a:p>
                  </a:txBody>
                </a:tc>
                <a:tc>
                  <a:txBody>
                    <a:bodyPr/>
                    <a:lstStyle/>
                    <a:p>
                      <a:pPr lvl="0" indent="0" marL="0">
                        <a:buNone/>
                      </a:pPr>
                      <a:r>
                        <a:rPr/>
                        <a:t>20.969306</a:t>
                      </a:r>
                    </a:p>
                  </a:txBody>
                </a:tc>
                <a:tc>
                  <a:txBody>
                    <a:bodyPr/>
                    <a:lstStyle/>
                    <a:p>
                      <a:pPr lvl="0" indent="0" marL="0">
                        <a:buNone/>
                      </a:pPr>
                      <a:r>
                        <a:rPr/>
                        <a:t>0.565727</a:t>
                      </a:r>
                    </a:p>
                  </a:txBody>
                </a:tc>
              </a:tr>
              <a:tr h="0">
                <a:tc>
                  <a:txBody>
                    <a:bodyPr/>
                    <a:lstStyle/>
                    <a:p>
                      <a:pPr lvl="0" indent="0" marL="0">
                        <a:buNone/>
                      </a:pPr>
                      <a:r>
                        <a:rPr/>
                        <a:t>896</a:t>
                      </a:r>
                    </a:p>
                  </a:txBody>
                </a:tc>
                <a:tc>
                  <a:txBody>
                    <a:bodyPr/>
                    <a:lstStyle/>
                    <a:p>
                      <a:pPr lvl="0" indent="0" marL="0">
                        <a:buNone/>
                      </a:pPr>
                      <a:r>
                        <a:rPr/>
                        <a:t>sugarberry</a:t>
                      </a:r>
                    </a:p>
                  </a:txBody>
                </a:tc>
                <a:tc>
                  <a:txBody>
                    <a:bodyPr/>
                    <a:lstStyle/>
                    <a:p>
                      <a:pPr lvl="0" indent="0" marL="0">
                        <a:buNone/>
                      </a:pPr>
                      <a:r>
                        <a:rPr/>
                        <a:t>7</a:t>
                      </a:r>
                    </a:p>
                  </a:txBody>
                </a:tc>
                <a:tc>
                  <a:txBody>
                    <a:bodyPr/>
                    <a:lstStyle/>
                    <a:p>
                      <a:pPr lvl="0" indent="0" marL="0">
                        <a:buNone/>
                      </a:pPr>
                      <a:r>
                        <a:rPr/>
                        <a:t>37.324259</a:t>
                      </a:r>
                    </a:p>
                  </a:txBody>
                </a:tc>
                <a:tc>
                  <a:txBody>
                    <a:bodyPr/>
                    <a:lstStyle/>
                    <a:p>
                      <a:pPr lvl="0" indent="0" marL="0">
                        <a:buNone/>
                      </a:pPr>
                      <a:r>
                        <a:rPr/>
                        <a:t>25.037024</a:t>
                      </a:r>
                    </a:p>
                  </a:txBody>
                </a:tc>
                <a:tc>
                  <a:txBody>
                    <a:bodyPr/>
                    <a:lstStyle/>
                    <a:p>
                      <a:pPr lvl="0" indent="0" marL="0">
                        <a:buNone/>
                      </a:pPr>
                      <a:r>
                        <a:rPr/>
                        <a:t>0.637629</a:t>
                      </a:r>
                    </a:p>
                  </a:txBody>
                </a:tc>
              </a:tr>
              <a:tr h="0">
                <a:tc>
                  <a:txBody>
                    <a:bodyPr/>
                    <a:lstStyle/>
                    <a:p>
                      <a:pPr lvl="0" indent="0" marL="0">
                        <a:buNone/>
                      </a:pPr>
                      <a:r>
                        <a:rPr/>
                        <a:t>897</a:t>
                      </a:r>
                    </a:p>
                  </a:txBody>
                </a:tc>
                <a:tc>
                  <a:txBody>
                    <a:bodyPr/>
                    <a:lstStyle/>
                    <a:p>
                      <a:pPr lvl="0" indent="0" marL="0">
                        <a:buNone/>
                      </a:pPr>
                      <a:r>
                        <a:rPr/>
                        <a:t>sugarberry</a:t>
                      </a:r>
                    </a:p>
                  </a:txBody>
                </a:tc>
                <a:tc>
                  <a:txBody>
                    <a:bodyPr/>
                    <a:lstStyle/>
                    <a:p>
                      <a:pPr lvl="0" indent="0" marL="0">
                        <a:buNone/>
                      </a:pPr>
                      <a:r>
                        <a:rPr/>
                        <a:t>8</a:t>
                      </a:r>
                    </a:p>
                  </a:txBody>
                </a:tc>
                <a:tc>
                  <a:txBody>
                    <a:bodyPr/>
                    <a:lstStyle/>
                    <a:p>
                      <a:pPr lvl="0" indent="0" marL="0">
                        <a:buNone/>
                      </a:pPr>
                      <a:r>
                        <a:rPr/>
                        <a:t>38.144756</a:t>
                      </a:r>
                    </a:p>
                  </a:txBody>
                </a:tc>
                <a:tc>
                  <a:txBody>
                    <a:bodyPr/>
                    <a:lstStyle/>
                    <a:p>
                      <a:pPr lvl="0" indent="0" marL="0">
                        <a:buNone/>
                      </a:pPr>
                      <a:r>
                        <a:rPr/>
                        <a:t>26.680208</a:t>
                      </a:r>
                    </a:p>
                  </a:txBody>
                </a:tc>
                <a:tc>
                  <a:txBody>
                    <a:bodyPr/>
                    <a:lstStyle/>
                    <a:p>
                      <a:pPr lvl="0" indent="0" marL="0">
                        <a:buNone/>
                      </a:pPr>
                      <a:r>
                        <a:rPr/>
                        <a:t>0.665159</a:t>
                      </a:r>
                    </a:p>
                  </a:txBody>
                </a:tc>
              </a:tr>
              <a:tr h="0">
                <a:tc>
                  <a:txBody>
                    <a:bodyPr/>
                    <a:lstStyle/>
                    <a:p>
                      <a:pPr lvl="0" indent="0" marL="0">
                        <a:buNone/>
                      </a:pPr>
                      <a:r>
                        <a:rPr/>
                        <a:t>898</a:t>
                      </a:r>
                    </a:p>
                  </a:txBody>
                </a:tc>
                <a:tc>
                  <a:txBody>
                    <a:bodyPr/>
                    <a:lstStyle/>
                    <a:p>
                      <a:pPr lvl="0" indent="0" marL="0">
                        <a:buNone/>
                      </a:pPr>
                      <a:r>
                        <a:rPr/>
                        <a:t>sugarberry</a:t>
                      </a:r>
                    </a:p>
                  </a:txBody>
                </a:tc>
                <a:tc>
                  <a:txBody>
                    <a:bodyPr/>
                    <a:lstStyle/>
                    <a:p>
                      <a:pPr lvl="0" indent="0" marL="0">
                        <a:buNone/>
                      </a:pPr>
                      <a:r>
                        <a:rPr/>
                        <a:t>9</a:t>
                      </a:r>
                    </a:p>
                  </a:txBody>
                </a:tc>
                <a:tc>
                  <a:txBody>
                    <a:bodyPr/>
                    <a:lstStyle/>
                    <a:p>
                      <a:pPr lvl="0" indent="0" marL="0">
                        <a:buNone/>
                      </a:pPr>
                      <a:r>
                        <a:rPr/>
                        <a:t>36.853245</a:t>
                      </a:r>
                    </a:p>
                  </a:txBody>
                </a:tc>
                <a:tc>
                  <a:txBody>
                    <a:bodyPr/>
                    <a:lstStyle/>
                    <a:p>
                      <a:pPr lvl="0" indent="0" marL="0">
                        <a:buNone/>
                      </a:pPr>
                      <a:r>
                        <a:rPr/>
                        <a:t>21.021667</a:t>
                      </a:r>
                    </a:p>
                  </a:txBody>
                </a:tc>
                <a:tc>
                  <a:txBody>
                    <a:bodyPr/>
                    <a:lstStyle/>
                    <a:p>
                      <a:pPr lvl="0" indent="0" marL="0">
                        <a:buNone/>
                      </a:pPr>
                      <a:r>
                        <a:rPr/>
                        <a:t>0.685162</a:t>
                      </a:r>
                    </a:p>
                  </a:txBody>
                </a:tc>
              </a:tr>
              <a:tr h="0">
                <a:tc>
                  <a:txBody>
                    <a:bodyPr/>
                    <a:lstStyle/>
                    <a:p>
                      <a:pPr lvl="0" indent="0" marL="0">
                        <a:buNone/>
                      </a:pPr>
                      <a:r>
                        <a:rPr/>
                        <a:t>899</a:t>
                      </a:r>
                    </a:p>
                  </a:txBody>
                </a:tc>
                <a:tc>
                  <a:txBody>
                    <a:bodyPr/>
                    <a:lstStyle/>
                    <a:p>
                      <a:pPr lvl="0" indent="0" marL="0">
                        <a:buNone/>
                      </a:pPr>
                      <a:r>
                        <a:rPr/>
                        <a:t>sugarberry</a:t>
                      </a:r>
                    </a:p>
                  </a:txBody>
                </a:tc>
                <a:tc>
                  <a:txBody>
                    <a:bodyPr/>
                    <a:lstStyle/>
                    <a:p>
                      <a:pPr lvl="0" indent="0" marL="0">
                        <a:buNone/>
                      </a:pPr>
                      <a:r>
                        <a:rPr/>
                        <a:t>10</a:t>
                      </a:r>
                    </a:p>
                  </a:txBody>
                </a:tc>
                <a:tc>
                  <a:txBody>
                    <a:bodyPr/>
                    <a:lstStyle/>
                    <a:p>
                      <a:pPr lvl="0" indent="0" marL="0">
                        <a:buNone/>
                      </a:pPr>
                      <a:r>
                        <a:rPr/>
                        <a:t>40.091106</a:t>
                      </a:r>
                    </a:p>
                  </a:txBody>
                </a:tc>
                <a:tc>
                  <a:txBody>
                    <a:bodyPr/>
                    <a:lstStyle/>
                    <a:p>
                      <a:pPr lvl="0" indent="0" marL="0">
                        <a:buNone/>
                      </a:pPr>
                      <a:r>
                        <a:rPr/>
                        <a:t>23.172083</a:t>
                      </a:r>
                    </a:p>
                  </a:txBody>
                </a:tc>
                <a:tc>
                  <a:txBody>
                    <a:bodyPr/>
                    <a:lstStyle/>
                    <a:p>
                      <a:pPr lvl="0" indent="0" marL="0">
                        <a:buNone/>
                      </a:pPr>
                      <a:r>
                        <a:rPr/>
                        <a:t>0.677519</a:t>
                      </a:r>
                    </a:p>
                  </a:txBody>
                </a:tc>
              </a:tr>
            </a:tbl>
          </a:graphicData>
        </a:graphic>
      </p:graphicFrame>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Technical Lead</a:t>
            </a:r>
          </a:p>
        </p:txBody>
      </p:sp>
      <p:graphicFrame>
        <p:nvGraphicFramePr>
          <p:cNvPr id="6" name="Content Placeholder 5"/>
          <p:cNvGraphicFramePr>
            <a:graphicFrameLocks noGrp="1"/>
          </p:cNvGraphicFramePr>
          <p:nvPr>
            <p:ph idx="1"/>
          </p:nvPr>
        </p:nvGraphicFramePr>
        <p:xfrm>
          <a:off x="457200" y="1193800"/>
          <a:ext cx="8229600" cy="3390900"/>
        </p:xfrm>
        <a:graphic>
          <a:graphicData uri="http://schemas.openxmlformats.org/drawingml/2006/table">
            <a:tbl>
              <a:tblPr firstRow="1" bandRow="1">
                <a:tableStyleId>{5C22544A-7EE6-4342-B048-85BDC9FD1C3A}</a:tableStyleId>
              </a:tblPr>
              <a:tblGrid>
                <a:gridCol w="1638300"/>
                <a:gridCol w="1638300"/>
                <a:gridCol w="1638300"/>
                <a:gridCol w="1638300"/>
                <a:gridCol w="1638300"/>
              </a:tblGrid>
              <a:tr h="0">
                <a:tc>
                  <a:txBody>
                    <a:bodyPr/>
                    <a:lstStyle/>
                    <a:p>
                      <a:endParaRPr/>
                    </a:p>
                  </a:txBody>
                  <a:tcPr/>
                </a:tc>
                <a:tc>
                  <a:txBody>
                    <a:bodyPr/>
                    <a:lstStyle/>
                    <a:p>
                      <a:pPr lvl="0" indent="0" marL="0">
                        <a:buNone/>
                      </a:pPr>
                      <a:r>
                        <a:rPr/>
                        <a:t>SPCD</a:t>
                      </a:r>
                    </a:p>
                  </a:txBody>
                  <a:tcPr/>
                </a:tc>
                <a:tc>
                  <a:txBody>
                    <a:bodyPr/>
                    <a:lstStyle/>
                    <a:p>
                      <a:pPr lvl="0" indent="0" marL="0">
                        <a:buNone/>
                      </a:pPr>
                      <a:r>
                        <a:rPr/>
                        <a:t>DO_BH</a:t>
                      </a:r>
                    </a:p>
                  </a:txBody>
                  <a:tcPr/>
                </a:tc>
                <a:tc>
                  <a:txBody>
                    <a:bodyPr/>
                    <a:lstStyle/>
                    <a:p>
                      <a:pPr lvl="0" indent="0" marL="0">
                        <a:buNone/>
                      </a:pPr>
                      <a:r>
                        <a:rPr/>
                        <a:t>HT_TOT</a:t>
                      </a:r>
                    </a:p>
                  </a:txBody>
                  <a:tcPr/>
                </a:tc>
                <a:tc>
                  <a:txBody>
                    <a:bodyPr/>
                    <a:lstStyle/>
                    <a:p>
                      <a:pPr lvl="0" indent="0" marL="0">
                        <a:buNone/>
                      </a:pPr>
                      <a:r>
                        <a:rPr/>
                        <a:t>TT_DW_CRM</a:t>
                      </a:r>
                    </a:p>
                  </a:txBody>
                  <a:tcPr/>
                </a:tc>
              </a:tr>
              <a:tr h="0">
                <a:tc>
                  <a:txBody>
                    <a:bodyPr/>
                    <a:lstStyle/>
                    <a:p>
                      <a:pPr lvl="0" indent="0" marL="0">
                        <a:buNone/>
                      </a:pPr>
                      <a:r>
                        <a:rPr/>
                        <a:t>0</a:t>
                      </a:r>
                    </a:p>
                  </a:txBody>
                </a:tc>
                <a:tc>
                  <a:txBody>
                    <a:bodyPr/>
                    <a:lstStyle/>
                    <a:p>
                      <a:pPr lvl="0" indent="0" marL="0">
                        <a:buNone/>
                      </a:pPr>
                      <a:r>
                        <a:rPr/>
                        <a:t>12</a:t>
                      </a:r>
                    </a:p>
                  </a:txBody>
                </a:tc>
                <a:tc>
                  <a:txBody>
                    <a:bodyPr/>
                    <a:lstStyle/>
                    <a:p>
                      <a:pPr lvl="0" indent="0" marL="0">
                        <a:buNone/>
                      </a:pPr>
                      <a:r>
                        <a:rPr/>
                        <a:t>7.5</a:t>
                      </a:r>
                    </a:p>
                  </a:txBody>
                </a:tc>
                <a:tc>
                  <a:txBody>
                    <a:bodyPr/>
                    <a:lstStyle/>
                    <a:p>
                      <a:pPr lvl="0" indent="0" marL="0">
                        <a:buNone/>
                      </a:pPr>
                      <a:r>
                        <a:rPr/>
                        <a:t>45.2</a:t>
                      </a:r>
                    </a:p>
                  </a:txBody>
                </a:tc>
                <a:tc>
                  <a:txBody>
                    <a:bodyPr/>
                    <a:lstStyle/>
                    <a:p>
                      <a:pPr lvl="0" indent="0" marL="0">
                        <a:buNone/>
                      </a:pPr>
                      <a:r>
                        <a:rPr/>
                        <a:t>178.86</a:t>
                      </a:r>
                    </a:p>
                  </a:txBody>
                </a:tc>
              </a:tr>
              <a:tr h="0">
                <a:tc>
                  <a:txBody>
                    <a:bodyPr/>
                    <a:lstStyle/>
                    <a:p>
                      <a:pPr lvl="0" indent="0" marL="0">
                        <a:buNone/>
                      </a:pPr>
                      <a:r>
                        <a:rPr/>
                        <a:t>1</a:t>
                      </a:r>
                    </a:p>
                  </a:txBody>
                </a:tc>
                <a:tc>
                  <a:txBody>
                    <a:bodyPr/>
                    <a:lstStyle/>
                    <a:p>
                      <a:pPr lvl="0" indent="0" marL="0">
                        <a:buNone/>
                      </a:pPr>
                      <a:r>
                        <a:rPr/>
                        <a:t>12</a:t>
                      </a:r>
                    </a:p>
                  </a:txBody>
                </a:tc>
                <a:tc>
                  <a:txBody>
                    <a:bodyPr/>
                    <a:lstStyle/>
                    <a:p>
                      <a:pPr lvl="0" indent="0" marL="0">
                        <a:buNone/>
                      </a:pPr>
                      <a:r>
                        <a:rPr/>
                        <a:t>9.3</a:t>
                      </a:r>
                    </a:p>
                  </a:txBody>
                </a:tc>
                <a:tc>
                  <a:txBody>
                    <a:bodyPr/>
                    <a:lstStyle/>
                    <a:p>
                      <a:pPr lvl="0" indent="0" marL="0">
                        <a:buNone/>
                      </a:pPr>
                      <a:r>
                        <a:rPr/>
                        <a:t>62.7</a:t>
                      </a:r>
                    </a:p>
                  </a:txBody>
                </a:tc>
                <a:tc>
                  <a:txBody>
                    <a:bodyPr/>
                    <a:lstStyle/>
                    <a:p>
                      <a:pPr lvl="0" indent="0" marL="0">
                        <a:buNone/>
                      </a:pPr>
                      <a:r>
                        <a:rPr/>
                        <a:t>323.46</a:t>
                      </a:r>
                    </a:p>
                  </a:txBody>
                </a:tc>
              </a:tr>
              <a:tr h="0">
                <a:tc>
                  <a:txBody>
                    <a:bodyPr/>
                    <a:lstStyle/>
                    <a:p>
                      <a:pPr lvl="0" indent="0" marL="0">
                        <a:buNone/>
                      </a:pPr>
                      <a:r>
                        <a:rPr/>
                        <a:t>2</a:t>
                      </a:r>
                    </a:p>
                  </a:txBody>
                </a:tc>
                <a:tc>
                  <a:txBody>
                    <a:bodyPr/>
                    <a:lstStyle/>
                    <a:p>
                      <a:pPr lvl="0" indent="0" marL="0">
                        <a:buNone/>
                      </a:pPr>
                      <a:r>
                        <a:rPr/>
                        <a:t>12</a:t>
                      </a:r>
                    </a:p>
                  </a:txBody>
                </a:tc>
                <a:tc>
                  <a:txBody>
                    <a:bodyPr/>
                    <a:lstStyle/>
                    <a:p>
                      <a:pPr lvl="0" indent="0" marL="0">
                        <a:buNone/>
                      </a:pPr>
                      <a:r>
                        <a:rPr/>
                        <a:t>9.7</a:t>
                      </a:r>
                    </a:p>
                  </a:txBody>
                </a:tc>
                <a:tc>
                  <a:txBody>
                    <a:bodyPr/>
                    <a:lstStyle/>
                    <a:p>
                      <a:pPr lvl="0" indent="0" marL="0">
                        <a:buNone/>
                      </a:pPr>
                      <a:r>
                        <a:rPr/>
                        <a:t>56.7</a:t>
                      </a:r>
                    </a:p>
                  </a:txBody>
                </a:tc>
                <a:tc>
                  <a:txBody>
                    <a:bodyPr/>
                    <a:lstStyle/>
                    <a:p>
                      <a:pPr lvl="0" indent="0" marL="0">
                        <a:buNone/>
                      </a:pPr>
                      <a:r>
                        <a:rPr/>
                        <a:t>342.47</a:t>
                      </a:r>
                    </a:p>
                  </a:txBody>
                </a:tc>
              </a:tr>
              <a:tr h="0">
                <a:tc>
                  <a:txBody>
                    <a:bodyPr/>
                    <a:lstStyle/>
                    <a:p>
                      <a:pPr lvl="0" indent="0" marL="0">
                        <a:buNone/>
                      </a:pPr>
                      <a:r>
                        <a:rPr/>
                        <a:t>3</a:t>
                      </a:r>
                    </a:p>
                  </a:txBody>
                </a:tc>
                <a:tc>
                  <a:txBody>
                    <a:bodyPr/>
                    <a:lstStyle/>
                    <a:p>
                      <a:pPr lvl="0" indent="0" marL="0">
                        <a:buNone/>
                      </a:pPr>
                      <a:r>
                        <a:rPr/>
                        <a:t>12</a:t>
                      </a:r>
                    </a:p>
                  </a:txBody>
                </a:tc>
                <a:tc>
                  <a:txBody>
                    <a:bodyPr/>
                    <a:lstStyle/>
                    <a:p>
                      <a:pPr lvl="0" indent="0" marL="0">
                        <a:buNone/>
                      </a:pPr>
                      <a:r>
                        <a:rPr/>
                        <a:t>11.4</a:t>
                      </a:r>
                    </a:p>
                  </a:txBody>
                </a:tc>
                <a:tc>
                  <a:txBody>
                    <a:bodyPr/>
                    <a:lstStyle/>
                    <a:p>
                      <a:pPr lvl="0" indent="0" marL="0">
                        <a:buNone/>
                      </a:pPr>
                      <a:r>
                        <a:rPr/>
                        <a:t>66.1</a:t>
                      </a:r>
                    </a:p>
                  </a:txBody>
                </a:tc>
                <a:tc>
                  <a:txBody>
                    <a:bodyPr/>
                    <a:lstStyle/>
                    <a:p>
                      <a:pPr lvl="0" indent="0" marL="0">
                        <a:buNone/>
                      </a:pPr>
                      <a:r>
                        <a:rPr/>
                        <a:t>499.35</a:t>
                      </a:r>
                    </a:p>
                  </a:txBody>
                </a:tc>
              </a:tr>
              <a:tr h="0">
                <a:tc>
                  <a:txBody>
                    <a:bodyPr/>
                    <a:lstStyle/>
                    <a:p>
                      <a:pPr lvl="0" indent="0" marL="0">
                        <a:buNone/>
                      </a:pPr>
                      <a:r>
                        <a:rPr/>
                        <a:t>4</a:t>
                      </a:r>
                    </a:p>
                  </a:txBody>
                </a:tc>
                <a:tc>
                  <a:txBody>
                    <a:bodyPr/>
                    <a:lstStyle/>
                    <a:p>
                      <a:pPr lvl="0" indent="0" marL="0">
                        <a:buNone/>
                      </a:pPr>
                      <a:r>
                        <a:rPr/>
                        <a:t>12</a:t>
                      </a:r>
                    </a:p>
                  </a:txBody>
                </a:tc>
                <a:tc>
                  <a:txBody>
                    <a:bodyPr/>
                    <a:lstStyle/>
                    <a:p>
                      <a:pPr lvl="0" indent="0" marL="0">
                        <a:buNone/>
                      </a:pPr>
                      <a:r>
                        <a:rPr/>
                        <a:t>6.4</a:t>
                      </a:r>
                    </a:p>
                  </a:txBody>
                </a:tc>
                <a:tc>
                  <a:txBody>
                    <a:bodyPr/>
                    <a:lstStyle/>
                    <a:p>
                      <a:pPr lvl="0" indent="0" marL="0">
                        <a:buNone/>
                      </a:pPr>
                      <a:r>
                        <a:rPr/>
                        <a:t>51.8</a:t>
                      </a:r>
                    </a:p>
                  </a:txBody>
                </a:tc>
                <a:tc>
                  <a:txBody>
                    <a:bodyPr/>
                    <a:lstStyle/>
                    <a:p>
                      <a:pPr lvl="0" indent="0" marL="0">
                        <a:buNone/>
                      </a:pPr>
                      <a:r>
                        <a:rPr/>
                        <a:t>113.92</a:t>
                      </a:r>
                    </a:p>
                  </a:txBody>
                </a:tc>
              </a:tr>
            </a:tbl>
          </a:graphicData>
        </a:graphic>
      </p:graphicFrame>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6" name="Content Placeholder 5"/>
          <p:cNvGraphicFramePr>
            <a:graphicFrameLocks noGrp="1"/>
          </p:cNvGraphicFramePr>
          <p:nvPr>
            <p:ph idx="1"/>
          </p:nvPr>
        </p:nvGraphicFramePr>
        <p:xfrm>
          <a:off x="457200" y="1193800"/>
          <a:ext cx="8229600" cy="3390900"/>
        </p:xfrm>
        <a:graphic>
          <a:graphicData uri="http://schemas.openxmlformats.org/drawingml/2006/table">
            <a:tbl>
              <a:tblPr firstRow="1" bandRow="1">
                <a:tableStyleId>{5C22544A-7EE6-4342-B048-85BDC9FD1C3A}</a:tableStyleId>
              </a:tblPr>
              <a:tblGrid>
                <a:gridCol w="2743200"/>
                <a:gridCol w="2743200"/>
                <a:gridCol w="2743200"/>
              </a:tblGrid>
              <a:tr h="0">
                <a:tc>
                  <a:txBody>
                    <a:bodyPr/>
                    <a:lstStyle/>
                    <a:p>
                      <a:endParaRPr/>
                    </a:p>
                  </a:txBody>
                  <a:tcPr/>
                </a:tc>
                <a:tc>
                  <a:txBody>
                    <a:bodyPr/>
                    <a:lstStyle/>
                    <a:p>
                      <a:pPr lvl="0" indent="0" marL="0">
                        <a:buNone/>
                      </a:pPr>
                      <a:r>
                        <a:rPr/>
                        <a:t>SPCD</a:t>
                      </a:r>
                    </a:p>
                  </a:txBody>
                  <a:tcPr/>
                </a:tc>
                <a:tc>
                  <a:txBody>
                    <a:bodyPr/>
                    <a:lstStyle/>
                    <a:p>
                      <a:pPr lvl="0" indent="0" marL="0">
                        <a:buNone/>
                      </a:pPr>
                      <a:r>
                        <a:rPr/>
                        <a:t>COMMON_NAME</a:t>
                      </a:r>
                    </a:p>
                  </a:txBody>
                  <a:tcPr/>
                </a:tc>
              </a:tr>
              <a:tr h="0">
                <a:tc>
                  <a:txBody>
                    <a:bodyPr/>
                    <a:lstStyle/>
                    <a:p>
                      <a:pPr lvl="0" indent="0" marL="0">
                        <a:buNone/>
                      </a:pPr>
                      <a:r>
                        <a:rPr/>
                        <a:t>0</a:t>
                      </a:r>
                    </a:p>
                  </a:txBody>
                </a:tc>
                <a:tc>
                  <a:txBody>
                    <a:bodyPr/>
                    <a:lstStyle/>
                    <a:p>
                      <a:pPr lvl="0" indent="0" marL="0">
                        <a:buNone/>
                      </a:pPr>
                      <a:r>
                        <a:rPr/>
                        <a:t>10</a:t>
                      </a:r>
                    </a:p>
                  </a:txBody>
                </a:tc>
                <a:tc>
                  <a:txBody>
                    <a:bodyPr/>
                    <a:lstStyle/>
                    <a:p>
                      <a:pPr lvl="0" indent="0" marL="0">
                        <a:buNone/>
                      </a:pPr>
                      <a:r>
                        <a:rPr/>
                        <a:t>fir spp.</a:t>
                      </a:r>
                    </a:p>
                  </a:txBody>
                </a:tc>
              </a:tr>
              <a:tr h="0">
                <a:tc>
                  <a:txBody>
                    <a:bodyPr/>
                    <a:lstStyle/>
                    <a:p>
                      <a:pPr lvl="0" indent="0" marL="0">
                        <a:buNone/>
                      </a:pPr>
                      <a:r>
                        <a:rPr/>
                        <a:t>1</a:t>
                      </a:r>
                    </a:p>
                  </a:txBody>
                </a:tc>
                <a:tc>
                  <a:txBody>
                    <a:bodyPr/>
                    <a:lstStyle/>
                    <a:p>
                      <a:pPr lvl="0" indent="0" marL="0">
                        <a:buNone/>
                      </a:pPr>
                      <a:r>
                        <a:rPr/>
                        <a:t>11</a:t>
                      </a:r>
                    </a:p>
                  </a:txBody>
                </a:tc>
                <a:tc>
                  <a:txBody>
                    <a:bodyPr/>
                    <a:lstStyle/>
                    <a:p>
                      <a:pPr lvl="0" indent="0" marL="0">
                        <a:buNone/>
                      </a:pPr>
                      <a:r>
                        <a:rPr/>
                        <a:t>Pacific silver fir</a:t>
                      </a:r>
                    </a:p>
                  </a:txBody>
                </a:tc>
              </a:tr>
              <a:tr h="0">
                <a:tc>
                  <a:txBody>
                    <a:bodyPr/>
                    <a:lstStyle/>
                    <a:p>
                      <a:pPr lvl="0" indent="0" marL="0">
                        <a:buNone/>
                      </a:pPr>
                      <a:r>
                        <a:rPr/>
                        <a:t>2</a:t>
                      </a:r>
                    </a:p>
                  </a:txBody>
                </a:tc>
                <a:tc>
                  <a:txBody>
                    <a:bodyPr/>
                    <a:lstStyle/>
                    <a:p>
                      <a:pPr lvl="0" indent="0" marL="0">
                        <a:buNone/>
                      </a:pPr>
                      <a:r>
                        <a:rPr/>
                        <a:t>12</a:t>
                      </a:r>
                    </a:p>
                  </a:txBody>
                </a:tc>
                <a:tc>
                  <a:txBody>
                    <a:bodyPr/>
                    <a:lstStyle/>
                    <a:p>
                      <a:pPr lvl="0" indent="0" marL="0">
                        <a:buNone/>
                      </a:pPr>
                      <a:r>
                        <a:rPr/>
                        <a:t>balsam fir</a:t>
                      </a:r>
                    </a:p>
                  </a:txBody>
                </a:tc>
              </a:tr>
              <a:tr h="0">
                <a:tc>
                  <a:txBody>
                    <a:bodyPr/>
                    <a:lstStyle/>
                    <a:p>
                      <a:pPr lvl="0" indent="0" marL="0">
                        <a:buNone/>
                      </a:pPr>
                      <a:r>
                        <a:rPr/>
                        <a:t>3</a:t>
                      </a:r>
                    </a:p>
                  </a:txBody>
                </a:tc>
                <a:tc>
                  <a:txBody>
                    <a:bodyPr/>
                    <a:lstStyle/>
                    <a:p>
                      <a:pPr lvl="0" indent="0" marL="0">
                        <a:buNone/>
                      </a:pPr>
                      <a:r>
                        <a:rPr/>
                        <a:t>14</a:t>
                      </a:r>
                    </a:p>
                  </a:txBody>
                </a:tc>
                <a:tc>
                  <a:txBody>
                    <a:bodyPr/>
                    <a:lstStyle/>
                    <a:p>
                      <a:pPr lvl="0" indent="0" marL="0">
                        <a:buNone/>
                      </a:pPr>
                      <a:r>
                        <a:rPr/>
                        <a:t>Santa Lucia or bristlecone fir</a:t>
                      </a:r>
                    </a:p>
                  </a:txBody>
                </a:tc>
              </a:tr>
              <a:tr h="0">
                <a:tc>
                  <a:txBody>
                    <a:bodyPr/>
                    <a:lstStyle/>
                    <a:p>
                      <a:pPr lvl="0" indent="0" marL="0">
                        <a:buNone/>
                      </a:pPr>
                      <a:r>
                        <a:rPr/>
                        <a:t>4</a:t>
                      </a:r>
                    </a:p>
                  </a:txBody>
                </a:tc>
                <a:tc>
                  <a:txBody>
                    <a:bodyPr/>
                    <a:lstStyle/>
                    <a:p>
                      <a:pPr lvl="0" indent="0" marL="0">
                        <a:buNone/>
                      </a:pPr>
                      <a:r>
                        <a:rPr/>
                        <a:t>15</a:t>
                      </a:r>
                    </a:p>
                  </a:txBody>
                </a:tc>
                <a:tc>
                  <a:txBody>
                    <a:bodyPr/>
                    <a:lstStyle/>
                    <a:p>
                      <a:pPr lvl="0" indent="0" marL="0">
                        <a:buNone/>
                      </a:pPr>
                      <a:r>
                        <a:rPr/>
                        <a:t>white fir</a:t>
                      </a:r>
                    </a:p>
                  </a:txBody>
                </a:tc>
              </a:tr>
            </a:tbl>
          </a:graphicData>
        </a:graphic>
      </p:graphicFrame>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6" name="Content Placeholder 5"/>
          <p:cNvGraphicFramePr>
            <a:graphicFrameLocks noGrp="1"/>
          </p:cNvGraphicFramePr>
          <p:nvPr>
            <p:ph idx="1"/>
          </p:nvPr>
        </p:nvGraphicFramePr>
        <p:xfrm>
          <a:off x="457200" y="1193800"/>
          <a:ext cx="8229600" cy="3390900"/>
        </p:xfrm>
        <a:graphic>
          <a:graphicData uri="http://schemas.openxmlformats.org/drawingml/2006/table">
            <a:tbl>
              <a:tblPr firstRow="1" bandRow="1">
                <a:tableStyleId>{5C22544A-7EE6-4342-B048-85BDC9FD1C3A}</a:tableStyleId>
              </a:tblPr>
              <a:tblGrid>
                <a:gridCol w="1371600"/>
                <a:gridCol w="1371600"/>
                <a:gridCol w="1371600"/>
                <a:gridCol w="1371600"/>
                <a:gridCol w="1371600"/>
                <a:gridCol w="1371600"/>
              </a:tblGrid>
              <a:tr h="0">
                <a:tc>
                  <a:txBody>
                    <a:bodyPr/>
                    <a:lstStyle/>
                    <a:p>
                      <a:endParaRPr/>
                    </a:p>
                  </a:txBody>
                  <a:tcPr/>
                </a:tc>
                <a:tc>
                  <a:txBody>
                    <a:bodyPr/>
                    <a:lstStyle/>
                    <a:p>
                      <a:pPr lvl="0" indent="0" marL="0">
                        <a:buNone/>
                      </a:pPr>
                      <a:r>
                        <a:rPr/>
                        <a:t>SPCD</a:t>
                      </a:r>
                    </a:p>
                  </a:txBody>
                  <a:tcPr/>
                </a:tc>
                <a:tc>
                  <a:txBody>
                    <a:bodyPr/>
                    <a:lstStyle/>
                    <a:p>
                      <a:pPr lvl="0" indent="0" marL="0">
                        <a:buNone/>
                      </a:pPr>
                      <a:r>
                        <a:rPr/>
                        <a:t>DO_BH</a:t>
                      </a:r>
                    </a:p>
                  </a:txBody>
                  <a:tcPr/>
                </a:tc>
                <a:tc>
                  <a:txBody>
                    <a:bodyPr/>
                    <a:lstStyle/>
                    <a:p>
                      <a:pPr lvl="0" indent="0" marL="0">
                        <a:buNone/>
                      </a:pPr>
                      <a:r>
                        <a:rPr/>
                        <a:t>HT_TOT</a:t>
                      </a:r>
                    </a:p>
                  </a:txBody>
                  <a:tcPr/>
                </a:tc>
                <a:tc>
                  <a:txBody>
                    <a:bodyPr/>
                    <a:lstStyle/>
                    <a:p>
                      <a:pPr lvl="0" indent="0" marL="0">
                        <a:buNone/>
                      </a:pPr>
                      <a:r>
                        <a:rPr/>
                        <a:t>TT_DW_CRM</a:t>
                      </a:r>
                    </a:p>
                  </a:txBody>
                  <a:tcPr/>
                </a:tc>
                <a:tc>
                  <a:txBody>
                    <a:bodyPr/>
                    <a:lstStyle/>
                    <a:p>
                      <a:pPr lvl="0" indent="0" marL="0">
                        <a:buNone/>
                      </a:pPr>
                      <a:r>
                        <a:rPr/>
                        <a:t>COMMON_NAME</a:t>
                      </a:r>
                    </a:p>
                  </a:txBody>
                  <a:tcPr/>
                </a:tc>
              </a:tr>
              <a:tr h="0">
                <a:tc>
                  <a:txBody>
                    <a:bodyPr/>
                    <a:lstStyle/>
                    <a:p>
                      <a:pPr lvl="0" indent="0" marL="0">
                        <a:buNone/>
                      </a:pPr>
                      <a:r>
                        <a:rPr/>
                        <a:t>0</a:t>
                      </a:r>
                    </a:p>
                  </a:txBody>
                </a:tc>
                <a:tc>
                  <a:txBody>
                    <a:bodyPr/>
                    <a:lstStyle/>
                    <a:p>
                      <a:pPr lvl="0" indent="0" marL="0">
                        <a:buNone/>
                      </a:pPr>
                      <a:r>
                        <a:rPr/>
                        <a:t>12</a:t>
                      </a:r>
                    </a:p>
                  </a:txBody>
                </a:tc>
                <a:tc>
                  <a:txBody>
                    <a:bodyPr/>
                    <a:lstStyle/>
                    <a:p>
                      <a:pPr lvl="0" indent="0" marL="0">
                        <a:buNone/>
                      </a:pPr>
                      <a:r>
                        <a:rPr/>
                        <a:t>7.5</a:t>
                      </a:r>
                    </a:p>
                  </a:txBody>
                </a:tc>
                <a:tc>
                  <a:txBody>
                    <a:bodyPr/>
                    <a:lstStyle/>
                    <a:p>
                      <a:pPr lvl="0" indent="0" marL="0">
                        <a:buNone/>
                      </a:pPr>
                      <a:r>
                        <a:rPr/>
                        <a:t>45.2</a:t>
                      </a:r>
                    </a:p>
                  </a:txBody>
                </a:tc>
                <a:tc>
                  <a:txBody>
                    <a:bodyPr/>
                    <a:lstStyle/>
                    <a:p>
                      <a:pPr lvl="0" indent="0" marL="0">
                        <a:buNone/>
                      </a:pPr>
                      <a:r>
                        <a:rPr/>
                        <a:t>178.86</a:t>
                      </a:r>
                    </a:p>
                  </a:txBody>
                </a:tc>
                <a:tc>
                  <a:txBody>
                    <a:bodyPr/>
                    <a:lstStyle/>
                    <a:p>
                      <a:pPr lvl="0" indent="0" marL="0">
                        <a:buNone/>
                      </a:pPr>
                      <a:r>
                        <a:rPr/>
                        <a:t>balsam fir</a:t>
                      </a:r>
                    </a:p>
                  </a:txBody>
                </a:tc>
              </a:tr>
              <a:tr h="0">
                <a:tc>
                  <a:txBody>
                    <a:bodyPr/>
                    <a:lstStyle/>
                    <a:p>
                      <a:pPr lvl="0" indent="0" marL="0">
                        <a:buNone/>
                      </a:pPr>
                      <a:r>
                        <a:rPr/>
                        <a:t>1</a:t>
                      </a:r>
                    </a:p>
                  </a:txBody>
                </a:tc>
                <a:tc>
                  <a:txBody>
                    <a:bodyPr/>
                    <a:lstStyle/>
                    <a:p>
                      <a:pPr lvl="0" indent="0" marL="0">
                        <a:buNone/>
                      </a:pPr>
                      <a:r>
                        <a:rPr/>
                        <a:t>12</a:t>
                      </a:r>
                    </a:p>
                  </a:txBody>
                </a:tc>
                <a:tc>
                  <a:txBody>
                    <a:bodyPr/>
                    <a:lstStyle/>
                    <a:p>
                      <a:pPr lvl="0" indent="0" marL="0">
                        <a:buNone/>
                      </a:pPr>
                      <a:r>
                        <a:rPr/>
                        <a:t>9.3</a:t>
                      </a:r>
                    </a:p>
                  </a:txBody>
                </a:tc>
                <a:tc>
                  <a:txBody>
                    <a:bodyPr/>
                    <a:lstStyle/>
                    <a:p>
                      <a:pPr lvl="0" indent="0" marL="0">
                        <a:buNone/>
                      </a:pPr>
                      <a:r>
                        <a:rPr/>
                        <a:t>62.7</a:t>
                      </a:r>
                    </a:p>
                  </a:txBody>
                </a:tc>
                <a:tc>
                  <a:txBody>
                    <a:bodyPr/>
                    <a:lstStyle/>
                    <a:p>
                      <a:pPr lvl="0" indent="0" marL="0">
                        <a:buNone/>
                      </a:pPr>
                      <a:r>
                        <a:rPr/>
                        <a:t>323.46</a:t>
                      </a:r>
                    </a:p>
                  </a:txBody>
                </a:tc>
                <a:tc>
                  <a:txBody>
                    <a:bodyPr/>
                    <a:lstStyle/>
                    <a:p>
                      <a:pPr lvl="0" indent="0" marL="0">
                        <a:buNone/>
                      </a:pPr>
                      <a:r>
                        <a:rPr/>
                        <a:t>balsam fir</a:t>
                      </a:r>
                    </a:p>
                  </a:txBody>
                </a:tc>
              </a:tr>
              <a:tr h="0">
                <a:tc>
                  <a:txBody>
                    <a:bodyPr/>
                    <a:lstStyle/>
                    <a:p>
                      <a:pPr lvl="0" indent="0" marL="0">
                        <a:buNone/>
                      </a:pPr>
                      <a:r>
                        <a:rPr/>
                        <a:t>2</a:t>
                      </a:r>
                    </a:p>
                  </a:txBody>
                </a:tc>
                <a:tc>
                  <a:txBody>
                    <a:bodyPr/>
                    <a:lstStyle/>
                    <a:p>
                      <a:pPr lvl="0" indent="0" marL="0">
                        <a:buNone/>
                      </a:pPr>
                      <a:r>
                        <a:rPr/>
                        <a:t>12</a:t>
                      </a:r>
                    </a:p>
                  </a:txBody>
                </a:tc>
                <a:tc>
                  <a:txBody>
                    <a:bodyPr/>
                    <a:lstStyle/>
                    <a:p>
                      <a:pPr lvl="0" indent="0" marL="0">
                        <a:buNone/>
                      </a:pPr>
                      <a:r>
                        <a:rPr/>
                        <a:t>9.7</a:t>
                      </a:r>
                    </a:p>
                  </a:txBody>
                </a:tc>
                <a:tc>
                  <a:txBody>
                    <a:bodyPr/>
                    <a:lstStyle/>
                    <a:p>
                      <a:pPr lvl="0" indent="0" marL="0">
                        <a:buNone/>
                      </a:pPr>
                      <a:r>
                        <a:rPr/>
                        <a:t>56.7</a:t>
                      </a:r>
                    </a:p>
                  </a:txBody>
                </a:tc>
                <a:tc>
                  <a:txBody>
                    <a:bodyPr/>
                    <a:lstStyle/>
                    <a:p>
                      <a:pPr lvl="0" indent="0" marL="0">
                        <a:buNone/>
                      </a:pPr>
                      <a:r>
                        <a:rPr/>
                        <a:t>342.47</a:t>
                      </a:r>
                    </a:p>
                  </a:txBody>
                </a:tc>
                <a:tc>
                  <a:txBody>
                    <a:bodyPr/>
                    <a:lstStyle/>
                    <a:p>
                      <a:pPr lvl="0" indent="0" marL="0">
                        <a:buNone/>
                      </a:pPr>
                      <a:r>
                        <a:rPr/>
                        <a:t>balsam fir</a:t>
                      </a:r>
                    </a:p>
                  </a:txBody>
                </a:tc>
              </a:tr>
              <a:tr h="0">
                <a:tc>
                  <a:txBody>
                    <a:bodyPr/>
                    <a:lstStyle/>
                    <a:p>
                      <a:pPr lvl="0" indent="0" marL="0">
                        <a:buNone/>
                      </a:pPr>
                      <a:r>
                        <a:rPr/>
                        <a:t>3</a:t>
                      </a:r>
                    </a:p>
                  </a:txBody>
                </a:tc>
                <a:tc>
                  <a:txBody>
                    <a:bodyPr/>
                    <a:lstStyle/>
                    <a:p>
                      <a:pPr lvl="0" indent="0" marL="0">
                        <a:buNone/>
                      </a:pPr>
                      <a:r>
                        <a:rPr/>
                        <a:t>12</a:t>
                      </a:r>
                    </a:p>
                  </a:txBody>
                </a:tc>
                <a:tc>
                  <a:txBody>
                    <a:bodyPr/>
                    <a:lstStyle/>
                    <a:p>
                      <a:pPr lvl="0" indent="0" marL="0">
                        <a:buNone/>
                      </a:pPr>
                      <a:r>
                        <a:rPr/>
                        <a:t>11.4</a:t>
                      </a:r>
                    </a:p>
                  </a:txBody>
                </a:tc>
                <a:tc>
                  <a:txBody>
                    <a:bodyPr/>
                    <a:lstStyle/>
                    <a:p>
                      <a:pPr lvl="0" indent="0" marL="0">
                        <a:buNone/>
                      </a:pPr>
                      <a:r>
                        <a:rPr/>
                        <a:t>66.1</a:t>
                      </a:r>
                    </a:p>
                  </a:txBody>
                </a:tc>
                <a:tc>
                  <a:txBody>
                    <a:bodyPr/>
                    <a:lstStyle/>
                    <a:p>
                      <a:pPr lvl="0" indent="0" marL="0">
                        <a:buNone/>
                      </a:pPr>
                      <a:r>
                        <a:rPr/>
                        <a:t>499.35</a:t>
                      </a:r>
                    </a:p>
                  </a:txBody>
                </a:tc>
                <a:tc>
                  <a:txBody>
                    <a:bodyPr/>
                    <a:lstStyle/>
                    <a:p>
                      <a:pPr lvl="0" indent="0" marL="0">
                        <a:buNone/>
                      </a:pPr>
                      <a:r>
                        <a:rPr/>
                        <a:t>balsam fir</a:t>
                      </a:r>
                    </a:p>
                  </a:txBody>
                </a:tc>
              </a:tr>
              <a:tr h="0">
                <a:tc>
                  <a:txBody>
                    <a:bodyPr/>
                    <a:lstStyle/>
                    <a:p>
                      <a:pPr lvl="0" indent="0" marL="0">
                        <a:buNone/>
                      </a:pPr>
                      <a:r>
                        <a:rPr/>
                        <a:t>4</a:t>
                      </a:r>
                    </a:p>
                  </a:txBody>
                </a:tc>
                <a:tc>
                  <a:txBody>
                    <a:bodyPr/>
                    <a:lstStyle/>
                    <a:p>
                      <a:pPr lvl="0" indent="0" marL="0">
                        <a:buNone/>
                      </a:pPr>
                      <a:r>
                        <a:rPr/>
                        <a:t>12</a:t>
                      </a:r>
                    </a:p>
                  </a:txBody>
                </a:tc>
                <a:tc>
                  <a:txBody>
                    <a:bodyPr/>
                    <a:lstStyle/>
                    <a:p>
                      <a:pPr lvl="0" indent="0" marL="0">
                        <a:buNone/>
                      </a:pPr>
                      <a:r>
                        <a:rPr/>
                        <a:t>6.4</a:t>
                      </a:r>
                    </a:p>
                  </a:txBody>
                </a:tc>
                <a:tc>
                  <a:txBody>
                    <a:bodyPr/>
                    <a:lstStyle/>
                    <a:p>
                      <a:pPr lvl="0" indent="0" marL="0">
                        <a:buNone/>
                      </a:pPr>
                      <a:r>
                        <a:rPr/>
                        <a:t>51.8</a:t>
                      </a:r>
                    </a:p>
                  </a:txBody>
                </a:tc>
                <a:tc>
                  <a:txBody>
                    <a:bodyPr/>
                    <a:lstStyle/>
                    <a:p>
                      <a:pPr lvl="0" indent="0" marL="0">
                        <a:buNone/>
                      </a:pPr>
                      <a:r>
                        <a:rPr/>
                        <a:t>113.92</a:t>
                      </a:r>
                    </a:p>
                  </a:txBody>
                </a:tc>
                <a:tc>
                  <a:txBody>
                    <a:bodyPr/>
                    <a:lstStyle/>
                    <a:p>
                      <a:pPr lvl="0" indent="0" marL="0">
                        <a:buNone/>
                      </a:pPr>
                      <a:r>
                        <a:rPr/>
                        <a:t>balsam fir</a:t>
                      </a:r>
                    </a:p>
                  </a:txBody>
                </a:tc>
              </a:tr>
            </a:tbl>
          </a:graphicData>
        </a:graphic>
      </p:graphicFrame>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Quality Assurance</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Redwood Analytics Project 3</dc:title>
  <dc:creator/>
  <cp:keywords/>
  <dcterms:created xsi:type="dcterms:W3CDTF">2025-12-14T18:02:14Z</dcterms:created>
  <dcterms:modified xsi:type="dcterms:W3CDTF">2025-12-14T18:02:14Z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biblio-config">
    <vt:lpwstr>True</vt:lpwstr>
  </property>
  <property fmtid="{D5CDD505-2E9C-101B-9397-08002B2CF9AE}" pid="3" name="execute">
    <vt:lpwstr/>
  </property>
  <property fmtid="{D5CDD505-2E9C-101B-9397-08002B2CF9AE}" pid="4" name="format">
    <vt:lpwstr>pptx</vt:lpwstr>
  </property>
  <property fmtid="{D5CDD505-2E9C-101B-9397-08002B2CF9AE}" pid="5" name="header-includes">
    <vt:lpwstr/>
  </property>
  <property fmtid="{D5CDD505-2E9C-101B-9397-08002B2CF9AE}" pid="6" name="include-after">
    <vt:lpwstr/>
  </property>
  <property fmtid="{D5CDD505-2E9C-101B-9397-08002B2CF9AE}" pid="7" name="include-before">
    <vt:lpwstr/>
  </property>
  <property fmtid="{D5CDD505-2E9C-101B-9397-08002B2CF9AE}" pid="8" name="labels">
    <vt:lpwstr/>
  </property>
  <property fmtid="{D5CDD505-2E9C-101B-9397-08002B2CF9AE}" pid="9" name="toc-title">
    <vt:lpwstr>Table of contents</vt:lpwstr>
  </property>
</Properties>
</file>